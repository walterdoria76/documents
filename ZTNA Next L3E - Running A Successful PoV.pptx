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7" r:id="rId5"/>
    <p:sldMasterId id="214748366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2D200454-40CA-4A62-9FC3-DE9A4176ACB9}">
      <p15:notesGuideLst>
        <p15:guide id="1" orient="horz" pos="2880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  <p:ext uri="GoogleSlidesCustomDataVersion2">
      <go:slidesCustomData xmlns:go="http://customooxmlschemas.google.com/" r:id="rId32" roundtripDataSignature="AMtx7miyVsCEQY2oX7Nt5NOG7xUjngAQ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8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Roboto-regular.fnt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Roboto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customschemas.google.com/relationships/presentationmetadata" Target="meta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4572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381000" y="4076700"/>
            <a:ext cx="6096000" cy="4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6499"/>
            <a:ext cx="2971800" cy="315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826499"/>
            <a:ext cx="2971800" cy="315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:notes"/>
          <p:cNvSpPr txBox="1"/>
          <p:nvPr>
            <p:ph idx="1" type="body"/>
          </p:nvPr>
        </p:nvSpPr>
        <p:spPr>
          <a:xfrm>
            <a:off x="381000" y="4076700"/>
            <a:ext cx="6096000" cy="458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:notes"/>
          <p:cNvSpPr/>
          <p:nvPr>
            <p:ph idx="2" type="sldImg"/>
          </p:nvPr>
        </p:nvSpPr>
        <p:spPr>
          <a:xfrm>
            <a:off x="381000" y="4572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4:notes"/>
          <p:cNvSpPr txBox="1"/>
          <p:nvPr>
            <p:ph idx="1" type="body"/>
          </p:nvPr>
        </p:nvSpPr>
        <p:spPr>
          <a:xfrm>
            <a:off x="381000" y="4076700"/>
            <a:ext cx="6096000" cy="458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4:notes"/>
          <p:cNvSpPr/>
          <p:nvPr>
            <p:ph idx="2" type="sldImg"/>
          </p:nvPr>
        </p:nvSpPr>
        <p:spPr>
          <a:xfrm>
            <a:off x="381000" y="4572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5:notes"/>
          <p:cNvSpPr txBox="1"/>
          <p:nvPr>
            <p:ph idx="1" type="body"/>
          </p:nvPr>
        </p:nvSpPr>
        <p:spPr>
          <a:xfrm>
            <a:off x="381000" y="4076700"/>
            <a:ext cx="6096000" cy="458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5:notes"/>
          <p:cNvSpPr/>
          <p:nvPr>
            <p:ph idx="2" type="sldImg"/>
          </p:nvPr>
        </p:nvSpPr>
        <p:spPr>
          <a:xfrm>
            <a:off x="381000" y="4572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6:notes"/>
          <p:cNvSpPr txBox="1"/>
          <p:nvPr>
            <p:ph idx="1" type="body"/>
          </p:nvPr>
        </p:nvSpPr>
        <p:spPr>
          <a:xfrm>
            <a:off x="381000" y="4076700"/>
            <a:ext cx="6096000" cy="458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6:notes"/>
          <p:cNvSpPr/>
          <p:nvPr>
            <p:ph idx="2" type="sldImg"/>
          </p:nvPr>
        </p:nvSpPr>
        <p:spPr>
          <a:xfrm>
            <a:off x="381000" y="4572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7:notes"/>
          <p:cNvSpPr txBox="1"/>
          <p:nvPr>
            <p:ph idx="1" type="body"/>
          </p:nvPr>
        </p:nvSpPr>
        <p:spPr>
          <a:xfrm>
            <a:off x="381000" y="4076700"/>
            <a:ext cx="6096000" cy="458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7:notes"/>
          <p:cNvSpPr/>
          <p:nvPr>
            <p:ph idx="2" type="sldImg"/>
          </p:nvPr>
        </p:nvSpPr>
        <p:spPr>
          <a:xfrm>
            <a:off x="381000" y="4572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8:notes"/>
          <p:cNvSpPr txBox="1"/>
          <p:nvPr>
            <p:ph idx="1" type="body"/>
          </p:nvPr>
        </p:nvSpPr>
        <p:spPr>
          <a:xfrm>
            <a:off x="381000" y="4076700"/>
            <a:ext cx="6096000" cy="458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8:notes"/>
          <p:cNvSpPr/>
          <p:nvPr>
            <p:ph idx="2" type="sldImg"/>
          </p:nvPr>
        </p:nvSpPr>
        <p:spPr>
          <a:xfrm>
            <a:off x="381000" y="4572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9:notes"/>
          <p:cNvSpPr txBox="1"/>
          <p:nvPr>
            <p:ph idx="1" type="body"/>
          </p:nvPr>
        </p:nvSpPr>
        <p:spPr>
          <a:xfrm>
            <a:off x="381000" y="4076700"/>
            <a:ext cx="6096000" cy="458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9:notes"/>
          <p:cNvSpPr/>
          <p:nvPr>
            <p:ph idx="2" type="sldImg"/>
          </p:nvPr>
        </p:nvSpPr>
        <p:spPr>
          <a:xfrm>
            <a:off x="381000" y="4572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0:notes"/>
          <p:cNvSpPr txBox="1"/>
          <p:nvPr>
            <p:ph idx="1" type="body"/>
          </p:nvPr>
        </p:nvSpPr>
        <p:spPr>
          <a:xfrm>
            <a:off x="381000" y="4076700"/>
            <a:ext cx="6096000" cy="458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0:notes"/>
          <p:cNvSpPr/>
          <p:nvPr>
            <p:ph idx="2" type="sldImg"/>
          </p:nvPr>
        </p:nvSpPr>
        <p:spPr>
          <a:xfrm>
            <a:off x="381000" y="4572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1:notes"/>
          <p:cNvSpPr txBox="1"/>
          <p:nvPr>
            <p:ph idx="1" type="body"/>
          </p:nvPr>
        </p:nvSpPr>
        <p:spPr>
          <a:xfrm>
            <a:off x="381000" y="4076700"/>
            <a:ext cx="6096000" cy="458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1:notes"/>
          <p:cNvSpPr/>
          <p:nvPr>
            <p:ph idx="2" type="sldImg"/>
          </p:nvPr>
        </p:nvSpPr>
        <p:spPr>
          <a:xfrm>
            <a:off x="381000" y="4572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2:notes"/>
          <p:cNvSpPr txBox="1"/>
          <p:nvPr>
            <p:ph idx="1" type="body"/>
          </p:nvPr>
        </p:nvSpPr>
        <p:spPr>
          <a:xfrm>
            <a:off x="381000" y="4076700"/>
            <a:ext cx="6096000" cy="458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2:notes"/>
          <p:cNvSpPr/>
          <p:nvPr>
            <p:ph idx="2" type="sldImg"/>
          </p:nvPr>
        </p:nvSpPr>
        <p:spPr>
          <a:xfrm>
            <a:off x="381000" y="4572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3:notes"/>
          <p:cNvSpPr txBox="1"/>
          <p:nvPr>
            <p:ph idx="1" type="body"/>
          </p:nvPr>
        </p:nvSpPr>
        <p:spPr>
          <a:xfrm>
            <a:off x="381000" y="4076700"/>
            <a:ext cx="6096000" cy="458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63:notes"/>
          <p:cNvSpPr/>
          <p:nvPr>
            <p:ph idx="2" type="sldImg"/>
          </p:nvPr>
        </p:nvSpPr>
        <p:spPr>
          <a:xfrm>
            <a:off x="381000" y="4572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4:notes"/>
          <p:cNvSpPr txBox="1"/>
          <p:nvPr>
            <p:ph idx="1" type="body"/>
          </p:nvPr>
        </p:nvSpPr>
        <p:spPr>
          <a:xfrm>
            <a:off x="381000" y="4076700"/>
            <a:ext cx="6096000" cy="458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64:notes"/>
          <p:cNvSpPr/>
          <p:nvPr>
            <p:ph idx="2" type="sldImg"/>
          </p:nvPr>
        </p:nvSpPr>
        <p:spPr>
          <a:xfrm>
            <a:off x="381000" y="4572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5:notes"/>
          <p:cNvSpPr txBox="1"/>
          <p:nvPr>
            <p:ph idx="1" type="body"/>
          </p:nvPr>
        </p:nvSpPr>
        <p:spPr>
          <a:xfrm>
            <a:off x="381000" y="4076700"/>
            <a:ext cx="6096000" cy="458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65:notes"/>
          <p:cNvSpPr/>
          <p:nvPr>
            <p:ph idx="2" type="sldImg"/>
          </p:nvPr>
        </p:nvSpPr>
        <p:spPr>
          <a:xfrm>
            <a:off x="381000" y="4572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6:notes"/>
          <p:cNvSpPr txBox="1"/>
          <p:nvPr>
            <p:ph idx="1" type="body"/>
          </p:nvPr>
        </p:nvSpPr>
        <p:spPr>
          <a:xfrm>
            <a:off x="381000" y="4076700"/>
            <a:ext cx="6096000" cy="458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66:notes"/>
          <p:cNvSpPr/>
          <p:nvPr>
            <p:ph idx="2" type="sldImg"/>
          </p:nvPr>
        </p:nvSpPr>
        <p:spPr>
          <a:xfrm>
            <a:off x="381000" y="4572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7:notes"/>
          <p:cNvSpPr txBox="1"/>
          <p:nvPr>
            <p:ph idx="1" type="body"/>
          </p:nvPr>
        </p:nvSpPr>
        <p:spPr>
          <a:xfrm>
            <a:off x="381000" y="4076700"/>
            <a:ext cx="6096000" cy="458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67:notes"/>
          <p:cNvSpPr/>
          <p:nvPr>
            <p:ph idx="2" type="sldImg"/>
          </p:nvPr>
        </p:nvSpPr>
        <p:spPr>
          <a:xfrm>
            <a:off x="381000" y="4572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8:notes"/>
          <p:cNvSpPr txBox="1"/>
          <p:nvPr>
            <p:ph idx="1" type="body"/>
          </p:nvPr>
        </p:nvSpPr>
        <p:spPr>
          <a:xfrm>
            <a:off x="381000" y="4076700"/>
            <a:ext cx="6096000" cy="458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68:notes"/>
          <p:cNvSpPr/>
          <p:nvPr>
            <p:ph idx="2" type="sldImg"/>
          </p:nvPr>
        </p:nvSpPr>
        <p:spPr>
          <a:xfrm>
            <a:off x="381000" y="4572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9:notes"/>
          <p:cNvSpPr txBox="1"/>
          <p:nvPr>
            <p:ph idx="1" type="body"/>
          </p:nvPr>
        </p:nvSpPr>
        <p:spPr>
          <a:xfrm>
            <a:off x="381000" y="4076700"/>
            <a:ext cx="6096000" cy="458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69:notes"/>
          <p:cNvSpPr/>
          <p:nvPr>
            <p:ph idx="2" type="sldImg"/>
          </p:nvPr>
        </p:nvSpPr>
        <p:spPr>
          <a:xfrm>
            <a:off x="381000" y="4572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0:notes"/>
          <p:cNvSpPr txBox="1"/>
          <p:nvPr>
            <p:ph idx="1" type="body"/>
          </p:nvPr>
        </p:nvSpPr>
        <p:spPr>
          <a:xfrm>
            <a:off x="381000" y="4076700"/>
            <a:ext cx="6096000" cy="458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70:notes"/>
          <p:cNvSpPr/>
          <p:nvPr>
            <p:ph idx="2" type="sldImg"/>
          </p:nvPr>
        </p:nvSpPr>
        <p:spPr>
          <a:xfrm>
            <a:off x="381000" y="4572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71:notes"/>
          <p:cNvSpPr txBox="1"/>
          <p:nvPr>
            <p:ph idx="1" type="body"/>
          </p:nvPr>
        </p:nvSpPr>
        <p:spPr>
          <a:xfrm>
            <a:off x="381000" y="4076700"/>
            <a:ext cx="6096000" cy="458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71:notes"/>
          <p:cNvSpPr/>
          <p:nvPr>
            <p:ph idx="2" type="sldImg"/>
          </p:nvPr>
        </p:nvSpPr>
        <p:spPr>
          <a:xfrm>
            <a:off x="381000" y="4572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 showMasterSp="0">
  <p:cSld name="Title 2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&#10;&#10;Description automatically generated with low confidence" id="16" name="Google Shape;1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9"/>
          <p:cNvSpPr txBox="1"/>
          <p:nvPr>
            <p:ph type="title"/>
          </p:nvPr>
        </p:nvSpPr>
        <p:spPr>
          <a:xfrm>
            <a:off x="1023057" y="1724644"/>
            <a:ext cx="7056788" cy="5065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" type="body"/>
          </p:nvPr>
        </p:nvSpPr>
        <p:spPr>
          <a:xfrm>
            <a:off x="1046521" y="2571750"/>
            <a:ext cx="6036628" cy="5065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9" name="Google Shape;1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930" y="1511910"/>
            <a:ext cx="296552" cy="29655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8832910" y="4849626"/>
            <a:ext cx="117020" cy="115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19"/>
          <p:cNvSpPr txBox="1"/>
          <p:nvPr/>
        </p:nvSpPr>
        <p:spPr>
          <a:xfrm>
            <a:off x="6875539" y="4868862"/>
            <a:ext cx="1862689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2023 © Netskope Confidential. All rights reserved.  </a:t>
            </a:r>
            <a:endParaRPr b="0" i="0" sz="14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4801710"/>
            <a:ext cx="1304162" cy="203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 showMasterSp="0">
  <p:cSld name="1_Title 1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text, tree&#10;&#10;Description automatically generated" id="24" name="Google Shape;24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4801710"/>
            <a:ext cx="1304162" cy="203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81">
          <p15:clr>
            <a:srgbClr val="FBAE40"/>
          </p15:clr>
        </p15:guide>
        <p15:guide id="2" orient="horz" pos="141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 showMasterSp="0">
  <p:cSld name="1_Title 1 2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&#10;&#10;Description automatically generated with medium confidence" id="27" name="Google Shape;27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4801710"/>
            <a:ext cx="1304162" cy="203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81">
          <p15:clr>
            <a:srgbClr val="FBAE40"/>
          </p15:clr>
        </p15:guide>
        <p15:guide id="2" orient="horz" pos="141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">
  <p:cSld name="2_Section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&#10;&#10;Description automatically generated with low confidence" id="30" name="Google Shape;30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77"/>
          <p:cNvSpPr txBox="1"/>
          <p:nvPr>
            <p:ph type="title"/>
          </p:nvPr>
        </p:nvSpPr>
        <p:spPr>
          <a:xfrm>
            <a:off x="1026508" y="1703212"/>
            <a:ext cx="3545492" cy="15480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" name="Google Shape;32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930" y="1511910"/>
            <a:ext cx="296552" cy="29655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7"/>
          <p:cNvSpPr txBox="1"/>
          <p:nvPr>
            <p:ph idx="12" type="sldNum"/>
          </p:nvPr>
        </p:nvSpPr>
        <p:spPr>
          <a:xfrm>
            <a:off x="8832910" y="4849626"/>
            <a:ext cx="117020" cy="115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77"/>
          <p:cNvSpPr txBox="1"/>
          <p:nvPr/>
        </p:nvSpPr>
        <p:spPr>
          <a:xfrm>
            <a:off x="6875539" y="4868862"/>
            <a:ext cx="1862689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2023 © Netskope Confidential. All rights reserved.  </a:t>
            </a:r>
            <a:endParaRPr b="0" i="0" sz="14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aphical user interface&#10;&#10;Description automatically generated with medium confidence" id="35" name="Google Shape;35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6386" y="1043829"/>
            <a:ext cx="3267027" cy="2938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760" y="4801710"/>
            <a:ext cx="1304162" cy="203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ection">
  <p:cSld name="3_Sec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&#10;&#10;Description automatically generated with low confidence" id="38" name="Google Shape;38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8"/>
          <p:cNvSpPr txBox="1"/>
          <p:nvPr>
            <p:ph type="title"/>
          </p:nvPr>
        </p:nvSpPr>
        <p:spPr>
          <a:xfrm>
            <a:off x="1026508" y="1703212"/>
            <a:ext cx="3545492" cy="15480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0" name="Google Shape;40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930" y="1511910"/>
            <a:ext cx="296552" cy="296552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78"/>
          <p:cNvSpPr txBox="1"/>
          <p:nvPr>
            <p:ph idx="12" type="sldNum"/>
          </p:nvPr>
        </p:nvSpPr>
        <p:spPr>
          <a:xfrm>
            <a:off x="8832910" y="4849626"/>
            <a:ext cx="117020" cy="115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78"/>
          <p:cNvSpPr txBox="1"/>
          <p:nvPr/>
        </p:nvSpPr>
        <p:spPr>
          <a:xfrm>
            <a:off x="6875539" y="4868862"/>
            <a:ext cx="1862689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2023 © Netskope Confidential. All rights reserved.  </a:t>
            </a:r>
            <a:endParaRPr b="0" i="0" sz="14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ap&#10;&#10;Description automatically generated" id="43" name="Google Shape;43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8584" y="1043829"/>
            <a:ext cx="3262700" cy="2938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760" y="4801710"/>
            <a:ext cx="1304162" cy="203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ection">
  <p:cSld name="4_Sec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phical user interface&#10;&#10;Description automatically generated with low confidence" id="46" name="Google Shape;46;p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9"/>
          <p:cNvSpPr txBox="1"/>
          <p:nvPr>
            <p:ph type="title"/>
          </p:nvPr>
        </p:nvSpPr>
        <p:spPr>
          <a:xfrm>
            <a:off x="1026508" y="1703212"/>
            <a:ext cx="3545492" cy="15480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8" name="Google Shape;48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930" y="1511910"/>
            <a:ext cx="296552" cy="29655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9"/>
          <p:cNvSpPr txBox="1"/>
          <p:nvPr>
            <p:ph idx="12" type="sldNum"/>
          </p:nvPr>
        </p:nvSpPr>
        <p:spPr>
          <a:xfrm>
            <a:off x="8832910" y="4849626"/>
            <a:ext cx="117020" cy="115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79"/>
          <p:cNvSpPr txBox="1"/>
          <p:nvPr/>
        </p:nvSpPr>
        <p:spPr>
          <a:xfrm>
            <a:off x="6875539" y="4868862"/>
            <a:ext cx="1862689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2023 © Netskope Confidential. All rights reserved.  </a:t>
            </a:r>
            <a:endParaRPr b="0" i="0" sz="14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aphical user interface&#10;&#10;Description automatically generated" id="51" name="Google Shape;51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8584" y="1043829"/>
            <a:ext cx="3262700" cy="2938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760" y="4801710"/>
            <a:ext cx="1304162" cy="203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" showMasterSp="0">
  <p:cSld name="Title 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54" name="Google Shape;54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1"/>
          <p:cNvSpPr txBox="1"/>
          <p:nvPr/>
        </p:nvSpPr>
        <p:spPr>
          <a:xfrm>
            <a:off x="3478379" y="4932764"/>
            <a:ext cx="2181686" cy="10772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2022 © Netskope Confidential. All rights reserved.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1"/>
          <p:cNvSpPr txBox="1"/>
          <p:nvPr>
            <p:ph type="title"/>
          </p:nvPr>
        </p:nvSpPr>
        <p:spPr>
          <a:xfrm>
            <a:off x="457200" y="2325528"/>
            <a:ext cx="8224044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i="0" sz="32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0229" y="784410"/>
            <a:ext cx="3283542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1"/>
          <p:cNvSpPr txBox="1"/>
          <p:nvPr>
            <p:ph idx="1" type="subTitle"/>
          </p:nvPr>
        </p:nvSpPr>
        <p:spPr>
          <a:xfrm>
            <a:off x="0" y="2906340"/>
            <a:ext cx="91440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8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800" u="none" cap="none" strike="noStrike">
                <a:solidFill>
                  <a:srgbClr val="00A9CE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800" u="none" cap="none" strike="noStrike">
                <a:solidFill>
                  <a:srgbClr val="00A9CE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800" u="none" cap="none" strike="noStrike">
                <a:solidFill>
                  <a:srgbClr val="00A9CE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rgbClr val="00A9CE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13"/>
              <a:buFont typeface="Arial"/>
              <a:buNone/>
              <a:defRPr b="0" i="0" sz="1800" u="none" cap="none" strike="noStrike">
                <a:solidFill>
                  <a:srgbClr val="00A9CE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13"/>
              <a:buFont typeface="Arial"/>
              <a:buNone/>
              <a:defRPr b="0" i="0" sz="1800" u="none" cap="none" strike="noStrike">
                <a:solidFill>
                  <a:srgbClr val="00A9CE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13"/>
              <a:buFont typeface="Arial"/>
              <a:buNone/>
              <a:defRPr b="0" i="0" sz="1800" u="none" cap="none" strike="noStrike">
                <a:solidFill>
                  <a:srgbClr val="00A9CE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13"/>
              <a:buFont typeface="Arial"/>
              <a:buNone/>
              <a:defRPr b="0" i="0" sz="1800" u="none" cap="none" strike="noStrike">
                <a:solidFill>
                  <a:srgbClr val="00A9C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showMasterSp="0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80;g28dc4e742ee_0_172" id="60" name="Google Shape;60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735"/>
            <a:ext cx="9144000" cy="51435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82;g28dc4e742ee_0_172" id="61" name="Google Shape;61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58" y="4801710"/>
            <a:ext cx="1304165" cy="203387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80"/>
          <p:cNvSpPr txBox="1"/>
          <p:nvPr/>
        </p:nvSpPr>
        <p:spPr>
          <a:xfrm>
            <a:off x="6875539" y="4868929"/>
            <a:ext cx="1862704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2023 © Netskope Confidential. All rights reserved.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80"/>
          <p:cNvSpPr txBox="1"/>
          <p:nvPr>
            <p:ph type="title"/>
          </p:nvPr>
        </p:nvSpPr>
        <p:spPr>
          <a:xfrm>
            <a:off x="370526" y="274638"/>
            <a:ext cx="7886701" cy="5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  <a:defRPr sz="2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1A59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1A59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1A59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1A59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1A59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1A59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1A59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1A59"/>
              </a:buClr>
              <a:buSzPts val="1800"/>
              <a:buNone/>
              <a:defRPr/>
            </a:lvl9pPr>
          </a:lstStyle>
          <a:p/>
        </p:txBody>
      </p:sp>
      <p:sp>
        <p:nvSpPr>
          <p:cNvPr id="64" name="Google Shape;64;p80"/>
          <p:cNvSpPr txBox="1"/>
          <p:nvPr>
            <p:ph idx="12" type="sldNum"/>
          </p:nvPr>
        </p:nvSpPr>
        <p:spPr>
          <a:xfrm>
            <a:off x="8822909" y="4838128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7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3"/>
          <p:cNvSpPr txBox="1"/>
          <p:nvPr>
            <p:ph type="title"/>
          </p:nvPr>
        </p:nvSpPr>
        <p:spPr>
          <a:xfrm>
            <a:off x="457006" y="343684"/>
            <a:ext cx="823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3"/>
          <p:cNvSpPr txBox="1"/>
          <p:nvPr>
            <p:ph idx="12" type="sldNum"/>
          </p:nvPr>
        </p:nvSpPr>
        <p:spPr>
          <a:xfrm>
            <a:off x="8832910" y="4849626"/>
            <a:ext cx="1170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ullet">
  <p:cSld name="Title and Bulle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4"/>
          <p:cNvSpPr txBox="1"/>
          <p:nvPr/>
        </p:nvSpPr>
        <p:spPr>
          <a:xfrm>
            <a:off x="6162142" y="606415"/>
            <a:ext cx="184731" cy="248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t/>
            </a:r>
            <a:endParaRPr b="0" i="0" sz="101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74"/>
          <p:cNvSpPr txBox="1"/>
          <p:nvPr>
            <p:ph type="title"/>
          </p:nvPr>
        </p:nvSpPr>
        <p:spPr>
          <a:xfrm>
            <a:off x="457006" y="345553"/>
            <a:ext cx="8232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4"/>
          <p:cNvSpPr txBox="1"/>
          <p:nvPr>
            <p:ph idx="12" type="sldNum"/>
          </p:nvPr>
        </p:nvSpPr>
        <p:spPr>
          <a:xfrm>
            <a:off x="8832910" y="4849626"/>
            <a:ext cx="117020" cy="115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74"/>
          <p:cNvSpPr txBox="1"/>
          <p:nvPr>
            <p:ph idx="1" type="body"/>
          </p:nvPr>
        </p:nvSpPr>
        <p:spPr>
          <a:xfrm>
            <a:off x="457006" y="1183822"/>
            <a:ext cx="8232972" cy="120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302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⎻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1939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–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1"/>
          <p:cNvSpPr txBox="1"/>
          <p:nvPr>
            <p:ph type="title"/>
          </p:nvPr>
        </p:nvSpPr>
        <p:spPr>
          <a:xfrm>
            <a:off x="457006" y="345552"/>
            <a:ext cx="8232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1"/>
          <p:cNvSpPr txBox="1"/>
          <p:nvPr>
            <p:ph idx="12" type="sldNum"/>
          </p:nvPr>
        </p:nvSpPr>
        <p:spPr>
          <a:xfrm>
            <a:off x="8832910" y="4849626"/>
            <a:ext cx="117020" cy="115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, and Image">
  <p:cSld name="Title, Content, and Image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2"/>
          <p:cNvSpPr txBox="1"/>
          <p:nvPr>
            <p:ph type="title"/>
          </p:nvPr>
        </p:nvSpPr>
        <p:spPr>
          <a:xfrm>
            <a:off x="457006" y="345552"/>
            <a:ext cx="8232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2"/>
          <p:cNvSpPr txBox="1"/>
          <p:nvPr>
            <p:ph idx="12" type="sldNum"/>
          </p:nvPr>
        </p:nvSpPr>
        <p:spPr>
          <a:xfrm>
            <a:off x="8832910" y="4849626"/>
            <a:ext cx="117020" cy="115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2"/>
          <p:cNvSpPr txBox="1"/>
          <p:nvPr>
            <p:ph idx="1" type="body"/>
          </p:nvPr>
        </p:nvSpPr>
        <p:spPr>
          <a:xfrm>
            <a:off x="457006" y="1183821"/>
            <a:ext cx="3640209" cy="120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302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⎻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1939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–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82"/>
          <p:cNvSpPr/>
          <p:nvPr>
            <p:ph idx="2" type="pic"/>
          </p:nvPr>
        </p:nvSpPr>
        <p:spPr>
          <a:xfrm rot="-597354">
            <a:off x="5619080" y="1120858"/>
            <a:ext cx="2689225" cy="3181350"/>
          </a:xfrm>
          <a:prstGeom prst="roundRect">
            <a:avLst>
              <a:gd fmla="val 4523" name="adj"/>
            </a:avLst>
          </a:prstGeom>
          <a:solidFill>
            <a:schemeClr val="accent1"/>
          </a:solidFill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3"/>
          <p:cNvSpPr txBox="1"/>
          <p:nvPr>
            <p:ph idx="12" type="sldNum"/>
          </p:nvPr>
        </p:nvSpPr>
        <p:spPr>
          <a:xfrm>
            <a:off x="8832910" y="4849626"/>
            <a:ext cx="117020" cy="115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ullet">
  <p:cSld name="Title and Bulle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5"/>
          <p:cNvSpPr txBox="1"/>
          <p:nvPr/>
        </p:nvSpPr>
        <p:spPr>
          <a:xfrm>
            <a:off x="6162142" y="606415"/>
            <a:ext cx="184731" cy="248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6"/>
              <a:buFont typeface="Arial"/>
              <a:buNone/>
            </a:pPr>
            <a:r>
              <a:t/>
            </a:r>
            <a:endParaRPr b="0" i="0" sz="101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85"/>
          <p:cNvSpPr txBox="1"/>
          <p:nvPr>
            <p:ph type="title"/>
          </p:nvPr>
        </p:nvSpPr>
        <p:spPr>
          <a:xfrm>
            <a:off x="457006" y="345553"/>
            <a:ext cx="8232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85"/>
          <p:cNvSpPr txBox="1"/>
          <p:nvPr>
            <p:ph idx="12" type="sldNum"/>
          </p:nvPr>
        </p:nvSpPr>
        <p:spPr>
          <a:xfrm>
            <a:off x="8832910" y="4849626"/>
            <a:ext cx="117020" cy="115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85"/>
          <p:cNvSpPr txBox="1"/>
          <p:nvPr>
            <p:ph idx="1" type="body"/>
          </p:nvPr>
        </p:nvSpPr>
        <p:spPr>
          <a:xfrm>
            <a:off x="457006" y="1183822"/>
            <a:ext cx="8232972" cy="120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302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⎻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1939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–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, and Image">
  <p:cSld name="Title, Content, and Imag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6"/>
          <p:cNvSpPr txBox="1"/>
          <p:nvPr>
            <p:ph type="title"/>
          </p:nvPr>
        </p:nvSpPr>
        <p:spPr>
          <a:xfrm>
            <a:off x="457006" y="345553"/>
            <a:ext cx="8232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86"/>
          <p:cNvSpPr txBox="1"/>
          <p:nvPr>
            <p:ph idx="12" type="sldNum"/>
          </p:nvPr>
        </p:nvSpPr>
        <p:spPr>
          <a:xfrm>
            <a:off x="8832910" y="4849626"/>
            <a:ext cx="117020" cy="115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86"/>
          <p:cNvSpPr txBox="1"/>
          <p:nvPr>
            <p:ph idx="1" type="body"/>
          </p:nvPr>
        </p:nvSpPr>
        <p:spPr>
          <a:xfrm>
            <a:off x="457006" y="1183822"/>
            <a:ext cx="4114994" cy="120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302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⎻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1939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–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86"/>
          <p:cNvSpPr/>
          <p:nvPr>
            <p:ph idx="2" type="pic"/>
          </p:nvPr>
        </p:nvSpPr>
        <p:spPr>
          <a:xfrm rot="-597354">
            <a:off x="5619080" y="1120858"/>
            <a:ext cx="2689225" cy="3181350"/>
          </a:xfrm>
          <a:prstGeom prst="roundRect">
            <a:avLst>
              <a:gd fmla="val 4523" name="adj"/>
            </a:avLst>
          </a:prstGeom>
          <a:solidFill>
            <a:schemeClr val="accent1"/>
          </a:solidFill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7"/>
          <p:cNvSpPr txBox="1"/>
          <p:nvPr>
            <p:ph type="title"/>
          </p:nvPr>
        </p:nvSpPr>
        <p:spPr>
          <a:xfrm>
            <a:off x="457006" y="345552"/>
            <a:ext cx="8232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87"/>
          <p:cNvSpPr txBox="1"/>
          <p:nvPr>
            <p:ph idx="12" type="sldNum"/>
          </p:nvPr>
        </p:nvSpPr>
        <p:spPr>
          <a:xfrm>
            <a:off x="8832910" y="4849626"/>
            <a:ext cx="117020" cy="115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8"/>
          <p:cNvSpPr txBox="1"/>
          <p:nvPr>
            <p:ph idx="12" type="sldNum"/>
          </p:nvPr>
        </p:nvSpPr>
        <p:spPr>
          <a:xfrm>
            <a:off x="8832910" y="4849626"/>
            <a:ext cx="117020" cy="115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8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53.png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10" name="Google Shape;10;p1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737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7"/>
          <p:cNvSpPr txBox="1"/>
          <p:nvPr>
            <p:ph idx="12" type="sldNum"/>
          </p:nvPr>
        </p:nvSpPr>
        <p:spPr>
          <a:xfrm>
            <a:off x="8832910" y="4849626"/>
            <a:ext cx="117020" cy="115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" name="Google Shape;1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5760" y="4801710"/>
            <a:ext cx="1304162" cy="20338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7"/>
          <p:cNvSpPr txBox="1"/>
          <p:nvPr>
            <p:ph type="title"/>
          </p:nvPr>
        </p:nvSpPr>
        <p:spPr>
          <a:xfrm>
            <a:off x="370526" y="274638"/>
            <a:ext cx="7886700" cy="5065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7"/>
          <p:cNvSpPr txBox="1"/>
          <p:nvPr/>
        </p:nvSpPr>
        <p:spPr>
          <a:xfrm>
            <a:off x="6875539" y="4868862"/>
            <a:ext cx="1862689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2023 © Netskope Confidential. All rights reserved.  </a:t>
            </a:r>
            <a:endParaRPr b="0" i="0" sz="14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96">
          <p15:clr>
            <a:srgbClr val="F26B43"/>
          </p15:clr>
        </p15:guide>
        <p15:guide id="2" pos="2880">
          <p15:clr>
            <a:srgbClr val="F26B43"/>
          </p15:clr>
        </p15:guide>
        <p15:guide id="3" pos="288">
          <p15:clr>
            <a:srgbClr val="F26B43"/>
          </p15:clr>
        </p15:guide>
        <p15:guide id="4" pos="5472">
          <p15:clr>
            <a:srgbClr val="F26B43"/>
          </p15:clr>
        </p15:guide>
        <p15:guide id="5" orient="horz" pos="492">
          <p15:clr>
            <a:srgbClr val="F26B43"/>
          </p15:clr>
        </p15:guide>
        <p15:guide id="6" orient="horz" pos="31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>
            <a:alpha val="0"/>
          </a:schemeClr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2"/>
          <p:cNvSpPr txBox="1"/>
          <p:nvPr>
            <p:ph type="title"/>
          </p:nvPr>
        </p:nvSpPr>
        <p:spPr>
          <a:xfrm>
            <a:off x="370526" y="274638"/>
            <a:ext cx="7886700" cy="5065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72"/>
          <p:cNvSpPr txBox="1"/>
          <p:nvPr>
            <p:ph idx="12" type="sldNum"/>
          </p:nvPr>
        </p:nvSpPr>
        <p:spPr>
          <a:xfrm>
            <a:off x="8832910" y="4849626"/>
            <a:ext cx="117020" cy="115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72"/>
          <p:cNvSpPr txBox="1"/>
          <p:nvPr/>
        </p:nvSpPr>
        <p:spPr>
          <a:xfrm>
            <a:off x="6875539" y="4868862"/>
            <a:ext cx="1862689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2023 © Netskope Confidential. All rights reserved. 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text, tableware, sign, dishware&#10;&#10;Description automatically generated" id="69" name="Google Shape;69;p7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67748" y="4800600"/>
            <a:ext cx="1274491" cy="20116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2"/>
    <p:sldLayoutId id="2147483659" r:id="rId3"/>
    <p:sldLayoutId id="2147483660" r:id="rId4"/>
    <p:sldLayoutId id="2147483661" r:id="rId5"/>
    <p:sldLayoutId id="214748366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88">
          <p15:clr>
            <a:srgbClr val="F26B43"/>
          </p15:clr>
        </p15:guide>
        <p15:guide id="4" pos="5472">
          <p15:clr>
            <a:srgbClr val="F26B43"/>
          </p15:clr>
        </p15:guide>
        <p15:guide id="5" orient="horz" pos="396">
          <p15:clr>
            <a:srgbClr val="F26B43"/>
          </p15:clr>
        </p15:guide>
        <p15:guide id="6" orient="horz" pos="29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89" name="Google Shape;89;p8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84"/>
          <p:cNvSpPr txBox="1"/>
          <p:nvPr>
            <p:ph type="title"/>
          </p:nvPr>
        </p:nvSpPr>
        <p:spPr>
          <a:xfrm>
            <a:off x="370526" y="274638"/>
            <a:ext cx="7886700" cy="5065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1" name="Google Shape;91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5760" y="4800600"/>
            <a:ext cx="1281327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84"/>
          <p:cNvSpPr txBox="1"/>
          <p:nvPr>
            <p:ph idx="12" type="sldNum"/>
          </p:nvPr>
        </p:nvSpPr>
        <p:spPr>
          <a:xfrm>
            <a:off x="8832910" y="4849626"/>
            <a:ext cx="117020" cy="1154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84"/>
          <p:cNvSpPr txBox="1"/>
          <p:nvPr/>
        </p:nvSpPr>
        <p:spPr>
          <a:xfrm>
            <a:off x="6875539" y="4868862"/>
            <a:ext cx="1862689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2023 © Netskope Confidential. All rights reserved. 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3"/>
    <p:sldLayoutId id="2147483665" r:id="rId4"/>
    <p:sldLayoutId id="2147483666" r:id="rId5"/>
    <p:sldLayoutId id="2147483667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288">
          <p15:clr>
            <a:srgbClr val="F26B43"/>
          </p15:clr>
        </p15:guide>
        <p15:guide id="4" pos="5472">
          <p15:clr>
            <a:srgbClr val="F26B43"/>
          </p15:clr>
        </p15:guide>
        <p15:guide id="5" orient="horz" pos="396">
          <p15:clr>
            <a:srgbClr val="F26B43"/>
          </p15:clr>
        </p15:guide>
        <p15:guide id="6" orient="horz" pos="2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netskope.document360.io/" TargetMode="External"/><Relationship Id="rId4" Type="http://schemas.openxmlformats.org/officeDocument/2006/relationships/hyperlink" Target="https://docs.google.com/document/d/1JHHdyg21WC0surfleoGrlsWODVhhpyoVctd95B0zIqc/edit?usp=sharing" TargetMode="External"/><Relationship Id="rId5" Type="http://schemas.openxmlformats.org/officeDocument/2006/relationships/hyperlink" Target="https://netskope.atlassian.net/wiki/spaces/VT/pages/3529281246/VT-BorderlessWAN" TargetMode="External"/><Relationship Id="rId6" Type="http://schemas.openxmlformats.org/officeDocument/2006/relationships/hyperlink" Target="https://netskope.showpad.biz/webapp2/content/experiences-templates/0d32ed44836f33e4d3bda7e7e9e8381d?slug=4456c1152face39e38d17c407b36c1ff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/spreadsheets/d/1bVs1fp4CoVG2dPUgwt1eXlF14VCkZEXQGYRLmRHB0iU/edit?usp=sharing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42.png"/><Relationship Id="rId11" Type="http://schemas.openxmlformats.org/officeDocument/2006/relationships/image" Target="../media/image27.png"/><Relationship Id="rId10" Type="http://schemas.openxmlformats.org/officeDocument/2006/relationships/image" Target="../media/image24.png"/><Relationship Id="rId12" Type="http://schemas.openxmlformats.org/officeDocument/2006/relationships/image" Target="../media/image28.png"/><Relationship Id="rId9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20" Type="http://schemas.openxmlformats.org/officeDocument/2006/relationships/image" Target="../media/image51.png"/><Relationship Id="rId11" Type="http://schemas.openxmlformats.org/officeDocument/2006/relationships/image" Target="../media/image24.png"/><Relationship Id="rId10" Type="http://schemas.openxmlformats.org/officeDocument/2006/relationships/image" Target="../media/image19.png"/><Relationship Id="rId13" Type="http://schemas.openxmlformats.org/officeDocument/2006/relationships/image" Target="../media/image39.png"/><Relationship Id="rId12" Type="http://schemas.openxmlformats.org/officeDocument/2006/relationships/image" Target="../media/image32.png"/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42.png"/><Relationship Id="rId9" Type="http://schemas.openxmlformats.org/officeDocument/2006/relationships/image" Target="../media/image26.png"/><Relationship Id="rId15" Type="http://schemas.openxmlformats.org/officeDocument/2006/relationships/image" Target="../media/image50.png"/><Relationship Id="rId14" Type="http://schemas.openxmlformats.org/officeDocument/2006/relationships/image" Target="../media/image35.png"/><Relationship Id="rId17" Type="http://schemas.openxmlformats.org/officeDocument/2006/relationships/image" Target="../media/image47.png"/><Relationship Id="rId16" Type="http://schemas.openxmlformats.org/officeDocument/2006/relationships/image" Target="../media/image37.png"/><Relationship Id="rId5" Type="http://schemas.openxmlformats.org/officeDocument/2006/relationships/image" Target="../media/image17.png"/><Relationship Id="rId19" Type="http://schemas.openxmlformats.org/officeDocument/2006/relationships/image" Target="../media/image46.png"/><Relationship Id="rId6" Type="http://schemas.openxmlformats.org/officeDocument/2006/relationships/image" Target="../media/image20.png"/><Relationship Id="rId18" Type="http://schemas.openxmlformats.org/officeDocument/2006/relationships/image" Target="../media/image45.png"/><Relationship Id="rId7" Type="http://schemas.openxmlformats.org/officeDocument/2006/relationships/image" Target="../media/image21.png"/><Relationship Id="rId8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19.png"/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42.png"/><Relationship Id="rId9" Type="http://schemas.openxmlformats.org/officeDocument/2006/relationships/image" Target="../media/image26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19.png"/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42.png"/><Relationship Id="rId9" Type="http://schemas.openxmlformats.org/officeDocument/2006/relationships/image" Target="../media/image26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19.png"/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42.png"/><Relationship Id="rId9" Type="http://schemas.openxmlformats.org/officeDocument/2006/relationships/image" Target="../media/image26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6.png"/><Relationship Id="rId4" Type="http://schemas.openxmlformats.org/officeDocument/2006/relationships/image" Target="../media/image4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Relationship Id="rId5" Type="http://schemas.openxmlformats.org/officeDocument/2006/relationships/image" Target="../media/image57.png"/><Relationship Id="rId6" Type="http://schemas.openxmlformats.org/officeDocument/2006/relationships/image" Target="../media/image5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netskope.document360.io/" TargetMode="External"/><Relationship Id="rId4" Type="http://schemas.openxmlformats.org/officeDocument/2006/relationships/hyperlink" Target="https://docs.google.com/document/d/1JHHdyg21WC0surfleoGrlsWODVhhpyoVctd95B0zIqc/edit?usp=sharing" TargetMode="External"/><Relationship Id="rId5" Type="http://schemas.openxmlformats.org/officeDocument/2006/relationships/hyperlink" Target="https://netskope.atlassian.net/wiki/spaces/VT/pages/3529281246/VT-BorderlessWAN" TargetMode="External"/><Relationship Id="rId6" Type="http://schemas.openxmlformats.org/officeDocument/2006/relationships/hyperlink" Target="https://netskope.showpad.biz/webapp2/content/experiences-templates/0d32ed44836f33e4d3bda7e7e9e8381d?slug=4456c1152face39e38d17c407b36c1f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1023057" y="1746560"/>
            <a:ext cx="5627125" cy="118954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Running A Successful ZTNA Next L3E PoV</a:t>
            </a:r>
            <a:endParaRPr/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1023057" y="3396940"/>
            <a:ext cx="6036628" cy="5065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Mohanad Elamin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Solutions Specialist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 txBox="1"/>
          <p:nvPr>
            <p:ph type="title"/>
          </p:nvPr>
        </p:nvSpPr>
        <p:spPr>
          <a:xfrm>
            <a:off x="457006" y="343684"/>
            <a:ext cx="823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8148"/>
              <a:buNone/>
            </a:pPr>
            <a:r>
              <a:rPr lang="en-US"/>
              <a:t>BWAN PoV Timeline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218127" y="813925"/>
            <a:ext cx="274200" cy="27420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3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i="0" sz="13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1834975" y="813325"/>
            <a:ext cx="274200" cy="274200"/>
          </a:xfrm>
          <a:prstGeom prst="ellipse">
            <a:avLst/>
          </a:prstGeom>
          <a:solidFill>
            <a:schemeClr val="accent2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3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13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3573810" y="813321"/>
            <a:ext cx="274200" cy="274200"/>
          </a:xfrm>
          <a:prstGeom prst="ellipse">
            <a:avLst/>
          </a:prstGeom>
          <a:solidFill>
            <a:schemeClr val="accent3"/>
          </a:solidFill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3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13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5312624" y="813321"/>
            <a:ext cx="274200" cy="274200"/>
          </a:xfrm>
          <a:prstGeom prst="ellipse">
            <a:avLst/>
          </a:prstGeom>
          <a:solidFill>
            <a:srgbClr val="9DE2ED"/>
          </a:solidFill>
          <a:ln cap="flat" cmpd="sng" w="25400">
            <a:solidFill>
              <a:srgbClr val="9DE2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3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1" i="0" sz="13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7051449" y="813324"/>
            <a:ext cx="271500" cy="271500"/>
          </a:xfrm>
          <a:prstGeom prst="ellipse">
            <a:avLst/>
          </a:prstGeom>
          <a:solidFill>
            <a:schemeClr val="accent4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3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1" i="0" sz="13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5518225" y="1667050"/>
            <a:ext cx="1595700" cy="2818200"/>
          </a:xfrm>
          <a:prstGeom prst="rect">
            <a:avLst/>
          </a:prstGeom>
          <a:solidFill>
            <a:srgbClr val="9DE2E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Customer</a:t>
            </a:r>
            <a:endParaRPr b="1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Enjoy full end-to-end connectivity and traffic optimization.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Netskope</a:t>
            </a:r>
            <a:endParaRPr b="1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Schedule review session.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Review Success Criteria and test results.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3745675" y="1667050"/>
            <a:ext cx="1595700" cy="2818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Customer</a:t>
            </a:r>
            <a:endParaRPr b="1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Deploy the appliance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(physical or virtual)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Install and configure the BWAN appliance and related Network configuration.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Verify appropriate network traffic is routed correctly through the BWAN appliance..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Test applications and traffic flow.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Netskope</a:t>
            </a:r>
            <a:endParaRPr b="1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Assist in the deployment and configuration.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Ensure routing is done properly.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1973150" y="1667050"/>
            <a:ext cx="1623068" cy="281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Customer</a:t>
            </a:r>
            <a:endParaRPr b="1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Provide insights into the network topology.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Identify the application(s) to be tested and the application(s) owners.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Prepare and implement the deployment prerequisites.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Plan deployment resources.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Share shipping information in case if HW is required.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Netskope</a:t>
            </a:r>
            <a:endParaRPr b="1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Discuss Network Topology.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Go over deployment options and Best Practices.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Share deployment prerequisites and required software.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Ship the HW appliances if required.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200600" y="1667050"/>
            <a:ext cx="1595700" cy="281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Customer</a:t>
            </a:r>
            <a:endParaRPr b="1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Establish Success Criteria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Coordinate overview meeting with necessary team </a:t>
            </a:r>
            <a:b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(ex. </a:t>
            </a:r>
            <a:r>
              <a:rPr b="1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Network</a:t>
            </a: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Security, Applications)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Netskope</a:t>
            </a:r>
            <a:endParaRPr b="1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Discuss value proposition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Go over Non-Disclosure Agreement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7290775" y="1667050"/>
            <a:ext cx="1595700" cy="2818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Customer</a:t>
            </a:r>
            <a:endParaRPr b="1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Identify next step.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Provide feedback on how well the Success Criteria was met or not.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Netskope</a:t>
            </a:r>
            <a:endParaRPr b="1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Discuss next steps.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Review pricing and quotes.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200600" y="1202088"/>
            <a:ext cx="1665300" cy="2715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PoV Agreement</a:t>
            </a:r>
            <a:endParaRPr b="0" i="0" sz="12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1837359" y="1202089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Pre-Deployment</a:t>
            </a:r>
            <a:endParaRPr b="0" i="0" sz="12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3596218" y="1202088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b="0" i="0" sz="12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5355077" y="1202088"/>
            <a:ext cx="1787400" cy="271500"/>
          </a:xfrm>
          <a:prstGeom prst="chevron">
            <a:avLst>
              <a:gd fmla="val 50000" name="adj"/>
            </a:avLst>
          </a:prstGeom>
          <a:solidFill>
            <a:srgbClr val="9DE2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PoV Results</a:t>
            </a:r>
            <a:endParaRPr b="0" i="0" sz="12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7113936" y="1202088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PoV Conclusion</a:t>
            </a:r>
            <a:endParaRPr b="0" i="0" sz="12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" name="Google Shape;135;p2"/>
          <p:cNvCxnSpPr>
            <a:endCxn id="136" idx="1"/>
          </p:cNvCxnSpPr>
          <p:nvPr/>
        </p:nvCxnSpPr>
        <p:spPr>
          <a:xfrm>
            <a:off x="3829975" y="4684225"/>
            <a:ext cx="20499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36" name="Google Shape;136;p2"/>
          <p:cNvSpPr txBox="1"/>
          <p:nvPr/>
        </p:nvSpPr>
        <p:spPr>
          <a:xfrm>
            <a:off x="5879875" y="4507225"/>
            <a:ext cx="83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11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30 Days +</a:t>
            </a:r>
            <a:endParaRPr b="1" i="0" sz="11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" name="Google Shape;137;p2"/>
          <p:cNvCxnSpPr>
            <a:stCxn id="136" idx="3"/>
          </p:cNvCxnSpPr>
          <p:nvPr/>
        </p:nvCxnSpPr>
        <p:spPr>
          <a:xfrm>
            <a:off x="6712375" y="4684225"/>
            <a:ext cx="20898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4"/>
          <p:cNvSpPr txBox="1"/>
          <p:nvPr>
            <p:ph type="title"/>
          </p:nvPr>
        </p:nvSpPr>
        <p:spPr>
          <a:xfrm>
            <a:off x="457006" y="345553"/>
            <a:ext cx="8232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PoV Agreement</a:t>
            </a:r>
            <a:endParaRPr/>
          </a:p>
        </p:txBody>
      </p:sp>
      <p:sp>
        <p:nvSpPr>
          <p:cNvPr id="143" name="Google Shape;143;p54"/>
          <p:cNvSpPr txBox="1"/>
          <p:nvPr>
            <p:ph idx="1" type="body"/>
          </p:nvPr>
        </p:nvSpPr>
        <p:spPr>
          <a:xfrm>
            <a:off x="457006" y="953235"/>
            <a:ext cx="5228100" cy="42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87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lang="en-US"/>
              <a:t>Before you start</a:t>
            </a:r>
            <a:endParaRPr/>
          </a:p>
          <a:p>
            <a:pPr indent="-171450" lvl="1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40"/>
              <a:buChar char="⎻"/>
            </a:pPr>
            <a:r>
              <a:rPr lang="en-US"/>
              <a:t>Defined clear and measurable Success criteria in collaboration with customer - covering decision maker from Network, Security and Application Teams.</a:t>
            </a:r>
            <a:endParaRPr/>
          </a:p>
          <a:p>
            <a:pPr indent="-171450" lvl="1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40"/>
              <a:buChar char="⎻"/>
            </a:pPr>
            <a:r>
              <a:rPr lang="en-US"/>
              <a:t>Identify key decision makers and influencers (Business and Technical Champions).</a:t>
            </a:r>
            <a:endParaRPr/>
          </a:p>
          <a:p>
            <a:pPr indent="-1587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lang="en-US"/>
              <a:t>Competitive considerations</a:t>
            </a:r>
            <a:endParaRPr/>
          </a:p>
          <a:p>
            <a:pPr indent="-171450" lvl="1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40"/>
              <a:buChar char="⎻"/>
            </a:pPr>
            <a:r>
              <a:rPr lang="en-US"/>
              <a:t>Identify the competition to plant traps.</a:t>
            </a:r>
            <a:endParaRPr/>
          </a:p>
          <a:p>
            <a:pPr indent="-1587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lang="en-US"/>
              <a:t>Involve the BWAN specialist team.</a:t>
            </a:r>
            <a:endParaRPr/>
          </a:p>
          <a:p>
            <a:pPr indent="-1587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lang="en-US"/>
              <a:t>Don’t confuse the customer with the terminology: ZTNA Next L3E = BWAN Client = SD-WAN Client = Borderless WAN client</a:t>
            </a:r>
            <a:endParaRPr/>
          </a:p>
          <a:p>
            <a:pPr indent="-571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t/>
            </a:r>
            <a:endParaRPr/>
          </a:p>
          <a:p>
            <a:pPr indent="-571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4" name="Google Shape;144;p54"/>
          <p:cNvSpPr/>
          <p:nvPr/>
        </p:nvSpPr>
        <p:spPr>
          <a:xfrm>
            <a:off x="0" y="0"/>
            <a:ext cx="1665300" cy="2715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PoV Agreement</a:t>
            </a:r>
            <a:endParaRPr b="0" i="0" sz="12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54"/>
          <p:cNvSpPr/>
          <p:nvPr/>
        </p:nvSpPr>
        <p:spPr>
          <a:xfrm>
            <a:off x="1747575" y="0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Pre-Deployment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54"/>
          <p:cNvSpPr/>
          <p:nvPr/>
        </p:nvSpPr>
        <p:spPr>
          <a:xfrm>
            <a:off x="361725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54"/>
          <p:cNvSpPr/>
          <p:nvPr/>
        </p:nvSpPr>
        <p:spPr>
          <a:xfrm>
            <a:off x="5486925" y="-1"/>
            <a:ext cx="1787400" cy="271500"/>
          </a:xfrm>
          <a:prstGeom prst="chevron">
            <a:avLst>
              <a:gd fmla="val 50000" name="adj"/>
            </a:avLst>
          </a:prstGeom>
          <a:solidFill>
            <a:srgbClr val="9DE2E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Results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54"/>
          <p:cNvSpPr/>
          <p:nvPr/>
        </p:nvSpPr>
        <p:spPr>
          <a:xfrm>
            <a:off x="735660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4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Conclusion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9" name="Google Shape;14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6335" y="1263760"/>
            <a:ext cx="2615979" cy="2615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5"/>
          <p:cNvSpPr txBox="1"/>
          <p:nvPr>
            <p:ph type="title"/>
          </p:nvPr>
        </p:nvSpPr>
        <p:spPr>
          <a:xfrm>
            <a:off x="457006" y="345553"/>
            <a:ext cx="8232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Sample Use cases and Success Criteria</a:t>
            </a:r>
            <a:endParaRPr/>
          </a:p>
        </p:txBody>
      </p:sp>
      <p:sp>
        <p:nvSpPr>
          <p:cNvPr id="155" name="Google Shape;155;p55"/>
          <p:cNvSpPr txBox="1"/>
          <p:nvPr>
            <p:ph idx="1" type="body"/>
          </p:nvPr>
        </p:nvSpPr>
        <p:spPr>
          <a:xfrm>
            <a:off x="457006" y="945283"/>
            <a:ext cx="8232972" cy="3701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87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lang="en-US" sz="1200"/>
              <a:t>UC 1: VoIP traffic steering via the Borderless SD-WAN Hub</a:t>
            </a:r>
            <a:endParaRPr/>
          </a:p>
          <a:p>
            <a:pPr indent="-112712" lvl="2" marL="573088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630"/>
              <a:buChar char="▪"/>
            </a:pPr>
            <a:r>
              <a:rPr lang="en-US" sz="900"/>
              <a:t>Expected results: VoIP Call should be successful over the ZTNA Next L3E tunnel.</a:t>
            </a:r>
            <a:endParaRPr/>
          </a:p>
          <a:p>
            <a:pPr indent="-1587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lang="en-US" sz="1200"/>
              <a:t>UC 2: ZTNA Next + SWG</a:t>
            </a:r>
            <a:endParaRPr/>
          </a:p>
          <a:p>
            <a:pPr indent="-112712" lvl="2" marL="573088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630"/>
              <a:buChar char="▪"/>
            </a:pPr>
            <a:r>
              <a:rPr lang="en-US" sz="900"/>
              <a:t>Expected Results: User should be able to steer traffic to ZTNA Next L7, SWG and ZTNA Next L3E using single agent.</a:t>
            </a:r>
            <a:endParaRPr/>
          </a:p>
          <a:p>
            <a:pPr indent="-1587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lang="en-US" sz="1200"/>
              <a:t>UC 3: Muti-tunnel traffic steering (Hubs deployed on two different DC sites)</a:t>
            </a:r>
            <a:endParaRPr/>
          </a:p>
          <a:p>
            <a:pPr indent="-112712" lvl="2" marL="573088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630"/>
              <a:buChar char="▪"/>
            </a:pPr>
            <a:r>
              <a:rPr lang="en-US" sz="900"/>
              <a:t>Expected Results: The client should be able to access resources on both Data Centers.</a:t>
            </a:r>
            <a:endParaRPr/>
          </a:p>
          <a:p>
            <a:pPr indent="-1587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lang="en-US" sz="1200"/>
              <a:t>UC 4: Inbound access for remote troubleshooting (Server to client connectivity)</a:t>
            </a:r>
            <a:endParaRPr/>
          </a:p>
          <a:p>
            <a:pPr indent="-112712" lvl="2" marL="573088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630"/>
              <a:buChar char="▪"/>
            </a:pPr>
            <a:r>
              <a:rPr lang="en-US" sz="900"/>
              <a:t>Expected Results: User should be able to establish Server to client connectivity</a:t>
            </a:r>
            <a:endParaRPr/>
          </a:p>
          <a:p>
            <a:pPr indent="-1587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lang="en-US" sz="1200"/>
              <a:t>UC 5: Client to Client communication</a:t>
            </a:r>
            <a:endParaRPr/>
          </a:p>
          <a:p>
            <a:pPr indent="-112712" lvl="2" marL="573088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630"/>
              <a:buChar char="▪"/>
            </a:pPr>
            <a:r>
              <a:rPr lang="en-US" sz="900"/>
              <a:t>Expected Results: User should be able establish connection between two clients running ZTNA Next L3E</a:t>
            </a:r>
            <a:endParaRPr/>
          </a:p>
          <a:p>
            <a:pPr indent="-1587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lang="en-US" sz="1200"/>
              <a:t>UC 6: User Re-Authentication for application access through the BWAN Hub</a:t>
            </a:r>
            <a:endParaRPr/>
          </a:p>
          <a:p>
            <a:pPr indent="-112712" lvl="2" marL="573088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630"/>
              <a:buChar char="▪"/>
            </a:pPr>
            <a:r>
              <a:rPr lang="en-US" sz="900"/>
              <a:t>Expected Results: User should be able to enforce re-authentication after configurable period.</a:t>
            </a:r>
            <a:endParaRPr/>
          </a:p>
          <a:p>
            <a:pPr indent="-1587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lang="en-US" sz="1200"/>
              <a:t>UC 7: Monitoring &amp; Analytics</a:t>
            </a:r>
            <a:endParaRPr/>
          </a:p>
          <a:p>
            <a:pPr indent="-112712" lvl="2" marL="573088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630"/>
              <a:buChar char="▪"/>
            </a:pPr>
            <a:r>
              <a:rPr lang="en-US" sz="900"/>
              <a:t>Expected Results: Admin should be able to view telemetry from the client</a:t>
            </a:r>
            <a:endParaRPr/>
          </a:p>
        </p:txBody>
      </p:sp>
      <p:sp>
        <p:nvSpPr>
          <p:cNvPr id="156" name="Google Shape;156;p55"/>
          <p:cNvSpPr/>
          <p:nvPr/>
        </p:nvSpPr>
        <p:spPr>
          <a:xfrm>
            <a:off x="0" y="0"/>
            <a:ext cx="1665300" cy="2715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PoV Agreement</a:t>
            </a:r>
            <a:endParaRPr b="0" i="0" sz="12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55"/>
          <p:cNvSpPr/>
          <p:nvPr/>
        </p:nvSpPr>
        <p:spPr>
          <a:xfrm>
            <a:off x="1747575" y="0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Pre-Deployment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55"/>
          <p:cNvSpPr/>
          <p:nvPr/>
        </p:nvSpPr>
        <p:spPr>
          <a:xfrm>
            <a:off x="361725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55"/>
          <p:cNvSpPr/>
          <p:nvPr/>
        </p:nvSpPr>
        <p:spPr>
          <a:xfrm>
            <a:off x="5486925" y="-1"/>
            <a:ext cx="1787400" cy="271500"/>
          </a:xfrm>
          <a:prstGeom prst="chevron">
            <a:avLst>
              <a:gd fmla="val 50000" name="adj"/>
            </a:avLst>
          </a:prstGeom>
          <a:solidFill>
            <a:srgbClr val="9DE2E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Results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55"/>
          <p:cNvSpPr/>
          <p:nvPr/>
        </p:nvSpPr>
        <p:spPr>
          <a:xfrm>
            <a:off x="735660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4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Conclusion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6"/>
          <p:cNvSpPr txBox="1"/>
          <p:nvPr>
            <p:ph type="title"/>
          </p:nvPr>
        </p:nvSpPr>
        <p:spPr>
          <a:xfrm>
            <a:off x="457006" y="345553"/>
            <a:ext cx="8232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Pre-Deployment</a:t>
            </a:r>
            <a:endParaRPr/>
          </a:p>
        </p:txBody>
      </p:sp>
      <p:sp>
        <p:nvSpPr>
          <p:cNvPr id="166" name="Google Shape;166;p56"/>
          <p:cNvSpPr txBox="1"/>
          <p:nvPr>
            <p:ph idx="1" type="body"/>
          </p:nvPr>
        </p:nvSpPr>
        <p:spPr>
          <a:xfrm>
            <a:off x="457006" y="1008894"/>
            <a:ext cx="8232972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87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lang="en-US"/>
              <a:t>Resources to review before customer discussion</a:t>
            </a:r>
            <a:endParaRPr/>
          </a:p>
          <a:p>
            <a:pPr indent="-171450" lvl="1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40"/>
              <a:buChar char="⎻"/>
            </a:pPr>
            <a:r>
              <a:rPr lang="en-US" u="sng">
                <a:solidFill>
                  <a:schemeClr val="hlink"/>
                </a:solidFill>
                <a:hlinkClick r:id="rId3"/>
              </a:rPr>
              <a:t>BWAN Documentation </a:t>
            </a:r>
            <a:r>
              <a:rPr lang="en-US"/>
              <a:t>(Sign up required, customer domain need to be whitelisted. Request whitelisting on the  #vt-borderlesswan-public slack channel)</a:t>
            </a:r>
            <a:endParaRPr/>
          </a:p>
          <a:p>
            <a:pPr indent="-171450" lvl="1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40"/>
              <a:buChar char="⎻"/>
            </a:pPr>
            <a:r>
              <a:rPr lang="en-US" u="sng">
                <a:solidFill>
                  <a:schemeClr val="hlink"/>
                </a:solidFill>
                <a:hlinkClick r:id="rId4"/>
              </a:rPr>
              <a:t>ZTNA Next L3E PoV Test Plan</a:t>
            </a:r>
            <a:endParaRPr/>
          </a:p>
          <a:p>
            <a:pPr indent="-171450" lvl="1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40"/>
              <a:buChar char="⎻"/>
            </a:pPr>
            <a:r>
              <a:rPr lang="en-US" u="sng">
                <a:solidFill>
                  <a:schemeClr val="hlink"/>
                </a:solidFill>
                <a:hlinkClick r:id="rId5"/>
              </a:rPr>
              <a:t>BWAN VT Page</a:t>
            </a:r>
            <a:r>
              <a:rPr lang="en-US"/>
              <a:t> (Internal only)</a:t>
            </a:r>
            <a:endParaRPr/>
          </a:p>
          <a:p>
            <a:pPr indent="-171450" lvl="1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40"/>
              <a:buChar char="⎻"/>
            </a:pPr>
            <a:r>
              <a:rPr lang="en-US" u="sng">
                <a:solidFill>
                  <a:schemeClr val="hlink"/>
                </a:solidFill>
                <a:hlinkClick r:id="rId6"/>
              </a:rPr>
              <a:t>BWAN Showpad page</a:t>
            </a:r>
            <a:r>
              <a:rPr lang="en-US"/>
              <a:t> (Internal only)</a:t>
            </a:r>
            <a:endParaRPr/>
          </a:p>
          <a:p>
            <a:pPr indent="-171450" lvl="1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40"/>
              <a:buChar char="⎻"/>
            </a:pPr>
            <a:r>
              <a:rPr lang="en-US"/>
              <a:t>BWAN Slack VT channel #vt-borderlesswan-public (Internal only)</a:t>
            </a:r>
            <a:endParaRPr/>
          </a:p>
          <a:p>
            <a:pPr indent="-171450" lvl="1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40"/>
              <a:buChar char="⎻"/>
            </a:pPr>
            <a:r>
              <a:rPr lang="en-US"/>
              <a:t>BWAN Slack Support channel #vt-borderlesswan-support (Internal only)</a:t>
            </a:r>
            <a:endParaRPr/>
          </a:p>
          <a:p>
            <a:pPr indent="0" lvl="0" marL="1270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73659" lvl="1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40"/>
              <a:buNone/>
            </a:pPr>
            <a:r>
              <a:t/>
            </a:r>
            <a:endParaRPr/>
          </a:p>
          <a:p>
            <a:pPr indent="-571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7" name="Google Shape;167;p56"/>
          <p:cNvSpPr/>
          <p:nvPr/>
        </p:nvSpPr>
        <p:spPr>
          <a:xfrm>
            <a:off x="0" y="0"/>
            <a:ext cx="1665300" cy="271500"/>
          </a:xfrm>
          <a:prstGeom prst="homePlate">
            <a:avLst>
              <a:gd fmla="val 50000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Agreement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56"/>
          <p:cNvSpPr/>
          <p:nvPr/>
        </p:nvSpPr>
        <p:spPr>
          <a:xfrm>
            <a:off x="1747575" y="0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Pre-Deployment</a:t>
            </a:r>
            <a:endParaRPr b="0" i="0" sz="12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56"/>
          <p:cNvSpPr/>
          <p:nvPr/>
        </p:nvSpPr>
        <p:spPr>
          <a:xfrm>
            <a:off x="361725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56"/>
          <p:cNvSpPr/>
          <p:nvPr/>
        </p:nvSpPr>
        <p:spPr>
          <a:xfrm>
            <a:off x="5486925" y="-1"/>
            <a:ext cx="1787400" cy="271500"/>
          </a:xfrm>
          <a:prstGeom prst="chevron">
            <a:avLst>
              <a:gd fmla="val 50000" name="adj"/>
            </a:avLst>
          </a:prstGeom>
          <a:solidFill>
            <a:srgbClr val="9DE2E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Results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56"/>
          <p:cNvSpPr/>
          <p:nvPr/>
        </p:nvSpPr>
        <p:spPr>
          <a:xfrm>
            <a:off x="735660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4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Conclusion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7"/>
          <p:cNvSpPr txBox="1"/>
          <p:nvPr>
            <p:ph type="title"/>
          </p:nvPr>
        </p:nvSpPr>
        <p:spPr>
          <a:xfrm>
            <a:off x="457006" y="345553"/>
            <a:ext cx="8232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Network Topology Discussion</a:t>
            </a:r>
            <a:endParaRPr/>
          </a:p>
        </p:txBody>
      </p:sp>
      <p:sp>
        <p:nvSpPr>
          <p:cNvPr id="177" name="Google Shape;177;p57"/>
          <p:cNvSpPr txBox="1"/>
          <p:nvPr>
            <p:ph idx="1" type="body"/>
          </p:nvPr>
        </p:nvSpPr>
        <p:spPr>
          <a:xfrm>
            <a:off x="455514" y="881673"/>
            <a:ext cx="8232972" cy="1009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71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t/>
            </a:r>
            <a:endParaRPr/>
          </a:p>
          <a:p>
            <a:pPr indent="-73659" lvl="1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40"/>
              <a:buNone/>
            </a:pPr>
            <a:r>
              <a:t/>
            </a:r>
            <a:endParaRPr/>
          </a:p>
          <a:p>
            <a:pPr indent="-571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8" name="Google Shape;178;p57"/>
          <p:cNvSpPr/>
          <p:nvPr/>
        </p:nvSpPr>
        <p:spPr>
          <a:xfrm>
            <a:off x="0" y="0"/>
            <a:ext cx="1665300" cy="271500"/>
          </a:xfrm>
          <a:prstGeom prst="homePlate">
            <a:avLst>
              <a:gd fmla="val 50000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Agreement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57"/>
          <p:cNvSpPr/>
          <p:nvPr/>
        </p:nvSpPr>
        <p:spPr>
          <a:xfrm>
            <a:off x="1747575" y="0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Pre-Deployment</a:t>
            </a:r>
            <a:endParaRPr b="0" i="0" sz="12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57"/>
          <p:cNvSpPr/>
          <p:nvPr/>
        </p:nvSpPr>
        <p:spPr>
          <a:xfrm>
            <a:off x="361725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57"/>
          <p:cNvSpPr/>
          <p:nvPr/>
        </p:nvSpPr>
        <p:spPr>
          <a:xfrm>
            <a:off x="5486925" y="-1"/>
            <a:ext cx="1787400" cy="271500"/>
          </a:xfrm>
          <a:prstGeom prst="chevron">
            <a:avLst>
              <a:gd fmla="val 50000" name="adj"/>
            </a:avLst>
          </a:prstGeom>
          <a:solidFill>
            <a:srgbClr val="9DE2E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Results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57"/>
          <p:cNvSpPr/>
          <p:nvPr/>
        </p:nvSpPr>
        <p:spPr>
          <a:xfrm>
            <a:off x="735660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4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Conclusion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3" name="Google Shape;18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758" y="1083965"/>
            <a:ext cx="7240484" cy="347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0767" y="929052"/>
            <a:ext cx="1459065" cy="360344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58"/>
          <p:cNvSpPr txBox="1"/>
          <p:nvPr>
            <p:ph type="title"/>
          </p:nvPr>
        </p:nvSpPr>
        <p:spPr>
          <a:xfrm>
            <a:off x="457006" y="345553"/>
            <a:ext cx="8232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Prerequisites</a:t>
            </a:r>
            <a:endParaRPr/>
          </a:p>
        </p:txBody>
      </p:sp>
      <p:sp>
        <p:nvSpPr>
          <p:cNvPr id="190" name="Google Shape;190;p58"/>
          <p:cNvSpPr txBox="1"/>
          <p:nvPr>
            <p:ph idx="1" type="body"/>
          </p:nvPr>
        </p:nvSpPr>
        <p:spPr>
          <a:xfrm>
            <a:off x="395039" y="929052"/>
            <a:ext cx="6961561" cy="2425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699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/>
              <a:t>Request a BWAN Tenant by raising PSR to the BWAN team. (SSE tenant is also required even the PoV is for ZTNA Next L3E only).</a:t>
            </a:r>
            <a:endParaRPr/>
          </a:p>
          <a:p>
            <a:pPr indent="-342900" lvl="0" marL="4699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/>
              <a:t>Update URSA flags. (Requires Approval)</a:t>
            </a:r>
            <a:endParaRPr/>
          </a:p>
          <a:p>
            <a:pPr indent="-112712" lvl="2" marL="573088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840"/>
              <a:buChar char="▪"/>
            </a:pPr>
            <a:r>
              <a:rPr lang="en-US"/>
              <a:t>Add the BWAN tenant URL to URSA Borderless WAN field. (BWAN &amp; IoT tab)</a:t>
            </a:r>
            <a:endParaRPr/>
          </a:p>
          <a:p>
            <a:pPr indent="-112712" lvl="2" marL="573088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840"/>
              <a:buChar char="▪"/>
            </a:pPr>
            <a:r>
              <a:rPr lang="en-US"/>
              <a:t>Borderless WAN Capability in Netskope Client URSA flag must be enabled. (BWAN &amp; IoT tab)</a:t>
            </a:r>
            <a:endParaRPr/>
          </a:p>
          <a:p>
            <a:pPr indent="-112712" lvl="2" marL="573088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840"/>
              <a:buChar char="▪"/>
            </a:pPr>
            <a:r>
              <a:rPr lang="en-US"/>
              <a:t>BWAN Tenant URL must be added to URSA BWAN Client Enrollment URL field. (BWAN &amp; IoT tab)</a:t>
            </a:r>
            <a:endParaRPr/>
          </a:p>
          <a:p>
            <a:pPr indent="-571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1" name="Google Shape;191;p58"/>
          <p:cNvSpPr/>
          <p:nvPr/>
        </p:nvSpPr>
        <p:spPr>
          <a:xfrm>
            <a:off x="0" y="0"/>
            <a:ext cx="1665300" cy="271500"/>
          </a:xfrm>
          <a:prstGeom prst="homePlate">
            <a:avLst>
              <a:gd fmla="val 50000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Agreement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58"/>
          <p:cNvSpPr/>
          <p:nvPr/>
        </p:nvSpPr>
        <p:spPr>
          <a:xfrm>
            <a:off x="1747575" y="0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Pre-Deployment</a:t>
            </a:r>
            <a:endParaRPr b="0" i="0" sz="12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58"/>
          <p:cNvSpPr/>
          <p:nvPr/>
        </p:nvSpPr>
        <p:spPr>
          <a:xfrm>
            <a:off x="361725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58"/>
          <p:cNvSpPr/>
          <p:nvPr/>
        </p:nvSpPr>
        <p:spPr>
          <a:xfrm>
            <a:off x="5486925" y="-1"/>
            <a:ext cx="1787400" cy="271500"/>
          </a:xfrm>
          <a:prstGeom prst="chevron">
            <a:avLst>
              <a:gd fmla="val 50000" name="adj"/>
            </a:avLst>
          </a:prstGeom>
          <a:solidFill>
            <a:srgbClr val="9DE2E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Results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58"/>
          <p:cNvSpPr/>
          <p:nvPr/>
        </p:nvSpPr>
        <p:spPr>
          <a:xfrm>
            <a:off x="735660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4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Conclusion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6" name="Google Shape;196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133" y="3265526"/>
            <a:ext cx="4992345" cy="138830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58"/>
          <p:cNvSpPr/>
          <p:nvPr/>
        </p:nvSpPr>
        <p:spPr>
          <a:xfrm>
            <a:off x="7569619" y="4180822"/>
            <a:ext cx="1345457" cy="314136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9"/>
          <p:cNvSpPr txBox="1"/>
          <p:nvPr>
            <p:ph type="title"/>
          </p:nvPr>
        </p:nvSpPr>
        <p:spPr>
          <a:xfrm>
            <a:off x="457006" y="345553"/>
            <a:ext cx="8232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Prerequisites</a:t>
            </a:r>
            <a:endParaRPr/>
          </a:p>
        </p:txBody>
      </p:sp>
      <p:sp>
        <p:nvSpPr>
          <p:cNvPr id="203" name="Google Shape;203;p59"/>
          <p:cNvSpPr txBox="1"/>
          <p:nvPr>
            <p:ph idx="1" type="body"/>
          </p:nvPr>
        </p:nvSpPr>
        <p:spPr>
          <a:xfrm>
            <a:off x="394464" y="857490"/>
            <a:ext cx="8232972" cy="2019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699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AutoNum type="arabicPeriod" startAt="3"/>
            </a:pPr>
            <a:r>
              <a:rPr lang="en-US"/>
              <a:t>Share required software packages with the customer.</a:t>
            </a:r>
            <a:endParaRPr/>
          </a:p>
          <a:p>
            <a:pPr indent="-342900" lvl="2" marL="757238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840"/>
              <a:buFont typeface="Arial"/>
              <a:buAutoNum type="arabicPeriod"/>
            </a:pPr>
            <a:r>
              <a:rPr lang="en-US"/>
              <a:t>Borderless SD-WAN gateway Virtual Machine Image.</a:t>
            </a:r>
            <a:endParaRPr/>
          </a:p>
          <a:p>
            <a:pPr indent="-342900" lvl="2" marL="757238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840"/>
              <a:buFont typeface="Arial"/>
              <a:buAutoNum type="arabicPeriod"/>
            </a:pPr>
            <a:r>
              <a:rPr lang="en-US"/>
              <a:t>Borderless SD-WAN Client MSI.</a:t>
            </a:r>
            <a:endParaRPr/>
          </a:p>
          <a:p>
            <a:pPr indent="0" lvl="2" marL="414338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840"/>
              <a:buNone/>
            </a:pPr>
            <a:r>
              <a:rPr lang="en-US"/>
              <a:t>Software packages can be downloaded from Borderless SDWAN orchestrator UI under Administrations &gt; Settings &gt; Downloads</a:t>
            </a:r>
            <a:endParaRPr/>
          </a:p>
          <a:p>
            <a:pPr indent="-289560" lvl="2" marL="757238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840"/>
              <a:buNone/>
            </a:pPr>
            <a:r>
              <a:t/>
            </a:r>
            <a:endParaRPr/>
          </a:p>
          <a:p>
            <a:pPr indent="-571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4" name="Google Shape;204;p59"/>
          <p:cNvSpPr/>
          <p:nvPr/>
        </p:nvSpPr>
        <p:spPr>
          <a:xfrm>
            <a:off x="0" y="0"/>
            <a:ext cx="1665300" cy="271500"/>
          </a:xfrm>
          <a:prstGeom prst="homePlate">
            <a:avLst>
              <a:gd fmla="val 50000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Agreement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59"/>
          <p:cNvSpPr/>
          <p:nvPr/>
        </p:nvSpPr>
        <p:spPr>
          <a:xfrm>
            <a:off x="1747575" y="0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Pre-Deployment</a:t>
            </a:r>
            <a:endParaRPr b="0" i="0" sz="12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59"/>
          <p:cNvSpPr/>
          <p:nvPr/>
        </p:nvSpPr>
        <p:spPr>
          <a:xfrm>
            <a:off x="361725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59"/>
          <p:cNvSpPr/>
          <p:nvPr/>
        </p:nvSpPr>
        <p:spPr>
          <a:xfrm>
            <a:off x="5486925" y="-1"/>
            <a:ext cx="1787400" cy="271500"/>
          </a:xfrm>
          <a:prstGeom prst="chevron">
            <a:avLst>
              <a:gd fmla="val 50000" name="adj"/>
            </a:avLst>
          </a:prstGeom>
          <a:solidFill>
            <a:srgbClr val="9DE2E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Results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59"/>
          <p:cNvSpPr/>
          <p:nvPr/>
        </p:nvSpPr>
        <p:spPr>
          <a:xfrm>
            <a:off x="735660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4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Conclusion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9" name="Google Shape;20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9471" y="2250830"/>
            <a:ext cx="6277148" cy="2443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0"/>
          <p:cNvSpPr txBox="1"/>
          <p:nvPr>
            <p:ph type="title"/>
          </p:nvPr>
        </p:nvSpPr>
        <p:spPr>
          <a:xfrm>
            <a:off x="457006" y="345553"/>
            <a:ext cx="8232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Prerequisites</a:t>
            </a:r>
            <a:endParaRPr/>
          </a:p>
        </p:txBody>
      </p:sp>
      <p:sp>
        <p:nvSpPr>
          <p:cNvPr id="215" name="Google Shape;215;p60"/>
          <p:cNvSpPr txBox="1"/>
          <p:nvPr>
            <p:ph idx="1" type="body"/>
          </p:nvPr>
        </p:nvSpPr>
        <p:spPr>
          <a:xfrm>
            <a:off x="394464" y="857490"/>
            <a:ext cx="8232972" cy="3293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699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AutoNum type="arabicPeriod" startAt="4"/>
            </a:pPr>
            <a:r>
              <a:rPr lang="en-US"/>
              <a:t>Port, Protocol and IP requirement for the gateway if it's deployed behind a firewall:</a:t>
            </a:r>
            <a:endParaRPr/>
          </a:p>
          <a:p>
            <a:pPr indent="-342900" lvl="2" marL="757238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840"/>
              <a:buChar char="▪"/>
            </a:pPr>
            <a:r>
              <a:rPr b="1" lang="en-US"/>
              <a:t>Outbound</a:t>
            </a:r>
            <a:endParaRPr/>
          </a:p>
          <a:p>
            <a:pPr indent="-342900" lvl="3" marL="8699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100"/>
              <a:buChar char="–"/>
            </a:pPr>
            <a:r>
              <a:rPr lang="en-US"/>
              <a:t>Gateway to Orchestrator TLS1.2/443</a:t>
            </a:r>
            <a:endParaRPr/>
          </a:p>
          <a:p>
            <a:pPr indent="-342900" lvl="3" marL="8699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100"/>
              <a:buChar char="–"/>
            </a:pPr>
            <a:r>
              <a:rPr lang="en-US"/>
              <a:t>Gateways to link server UDP-8841 </a:t>
            </a:r>
            <a:endParaRPr/>
          </a:p>
          <a:p>
            <a:pPr indent="-342900" lvl="3" marL="8699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100"/>
              <a:buChar char="–"/>
            </a:pPr>
            <a:r>
              <a:rPr lang="en-US"/>
              <a:t>Gateways to controller TCP-4500</a:t>
            </a:r>
            <a:endParaRPr/>
          </a:p>
          <a:p>
            <a:pPr indent="-342900" lvl="3" marL="8699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100"/>
              <a:buChar char="–"/>
            </a:pPr>
            <a:r>
              <a:rPr lang="en-US"/>
              <a:t>Gateway to gateway/hub UDP-4500 (can be custom configured)</a:t>
            </a:r>
            <a:endParaRPr/>
          </a:p>
          <a:p>
            <a:pPr indent="-342900" lvl="3" marL="8699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100"/>
              <a:buChar char="–"/>
            </a:pPr>
            <a:r>
              <a:rPr lang="en-US"/>
              <a:t>DNS UDP-53</a:t>
            </a:r>
            <a:endParaRPr/>
          </a:p>
          <a:p>
            <a:pPr indent="-342900" lvl="3" marL="8699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100"/>
              <a:buChar char="–"/>
            </a:pPr>
            <a:r>
              <a:rPr b="0" i="0" lang="en-US">
                <a:solidFill>
                  <a:srgbClr val="1F1F1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HTTPS access to &lt;*.googleapis.com&gt; and &lt;gcr.io&gt; for software packages download.</a:t>
            </a:r>
            <a:endParaRPr/>
          </a:p>
          <a:p>
            <a:pPr indent="-342900" lvl="2" marL="757238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840"/>
              <a:buChar char="▪"/>
            </a:pPr>
            <a:r>
              <a:rPr b="1" lang="en-US"/>
              <a:t>Inbound</a:t>
            </a:r>
            <a:endParaRPr/>
          </a:p>
          <a:p>
            <a:pPr indent="-342900" lvl="3" marL="8699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100"/>
              <a:buChar char="–"/>
            </a:pPr>
            <a:r>
              <a:rPr lang="en-US"/>
              <a:t>UDP-443 (If behind a firewall - For ZTNA Next use case)</a:t>
            </a:r>
            <a:endParaRPr/>
          </a:p>
          <a:p>
            <a:pPr indent="-342900" lvl="3" marL="8699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100"/>
              <a:buChar char="–"/>
            </a:pPr>
            <a:r>
              <a:rPr i="1" lang="en-US"/>
              <a:t>UDP-4500 (If behind a firewall – Only needed if SD-WAN site to site Use cases is part of the PoV)</a:t>
            </a:r>
            <a:endParaRPr/>
          </a:p>
          <a:p>
            <a:pPr indent="-342900" lvl="2" marL="757238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840"/>
              <a:buChar char="▪"/>
            </a:pPr>
            <a:r>
              <a:rPr lang="en-US"/>
              <a:t>If specific IP addresses are needed for the firewall rules, then the list can be found in this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sheet</a:t>
            </a:r>
            <a:r>
              <a:rPr lang="en-US"/>
              <a:t>.</a:t>
            </a:r>
            <a:endParaRPr/>
          </a:p>
        </p:txBody>
      </p:sp>
      <p:sp>
        <p:nvSpPr>
          <p:cNvPr id="216" name="Google Shape;216;p60"/>
          <p:cNvSpPr/>
          <p:nvPr/>
        </p:nvSpPr>
        <p:spPr>
          <a:xfrm>
            <a:off x="0" y="0"/>
            <a:ext cx="1665300" cy="271500"/>
          </a:xfrm>
          <a:prstGeom prst="homePlate">
            <a:avLst>
              <a:gd fmla="val 50000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Agreement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60"/>
          <p:cNvSpPr/>
          <p:nvPr/>
        </p:nvSpPr>
        <p:spPr>
          <a:xfrm>
            <a:off x="1747575" y="0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Pre-Deployment</a:t>
            </a:r>
            <a:endParaRPr b="0" i="0" sz="12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60"/>
          <p:cNvSpPr/>
          <p:nvPr/>
        </p:nvSpPr>
        <p:spPr>
          <a:xfrm>
            <a:off x="361725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60"/>
          <p:cNvSpPr/>
          <p:nvPr/>
        </p:nvSpPr>
        <p:spPr>
          <a:xfrm>
            <a:off x="5486925" y="-1"/>
            <a:ext cx="1787400" cy="271500"/>
          </a:xfrm>
          <a:prstGeom prst="chevron">
            <a:avLst>
              <a:gd fmla="val 50000" name="adj"/>
            </a:avLst>
          </a:prstGeom>
          <a:solidFill>
            <a:srgbClr val="9DE2E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Results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60"/>
          <p:cNvSpPr/>
          <p:nvPr/>
        </p:nvSpPr>
        <p:spPr>
          <a:xfrm>
            <a:off x="735660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4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Conclusion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1"/>
          <p:cNvSpPr txBox="1"/>
          <p:nvPr>
            <p:ph type="title"/>
          </p:nvPr>
        </p:nvSpPr>
        <p:spPr>
          <a:xfrm>
            <a:off x="457006" y="345553"/>
            <a:ext cx="8232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Deployment steps</a:t>
            </a:r>
            <a:endParaRPr/>
          </a:p>
        </p:txBody>
      </p:sp>
      <p:sp>
        <p:nvSpPr>
          <p:cNvPr id="226" name="Google Shape;226;p61"/>
          <p:cNvSpPr txBox="1"/>
          <p:nvPr>
            <p:ph idx="1" type="body"/>
          </p:nvPr>
        </p:nvSpPr>
        <p:spPr>
          <a:xfrm>
            <a:off x="394464" y="857490"/>
            <a:ext cx="8232972" cy="3748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-US"/>
              <a:t>Overall Deployment Workflow</a:t>
            </a:r>
            <a:endParaRPr/>
          </a:p>
          <a:p>
            <a:pPr indent="-342900" lvl="0" marL="4699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/>
              <a:t>Configure the Netskope SSE tenant.</a:t>
            </a:r>
            <a:endParaRPr/>
          </a:p>
          <a:p>
            <a:pPr indent="-342900" lvl="0" marL="4699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/>
              <a:t>Configure the Borderless SD-WAN Orchestrator tenant.</a:t>
            </a:r>
            <a:endParaRPr/>
          </a:p>
          <a:p>
            <a:pPr indent="-342900" lvl="0" marL="4699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/>
              <a:t>Deploy the SASE Gateway Hub.</a:t>
            </a:r>
            <a:endParaRPr/>
          </a:p>
          <a:p>
            <a:pPr indent="-342900" lvl="0" marL="4699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/>
              <a:t>Configure the routing required on the Gateway Hub.</a:t>
            </a:r>
            <a:endParaRPr/>
          </a:p>
          <a:p>
            <a:pPr indent="-342900" lvl="0" marL="4699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/>
              <a:t>Create the Borderless SD-WAN Client policy.</a:t>
            </a:r>
            <a:endParaRPr/>
          </a:p>
          <a:p>
            <a:pPr indent="-342900" lvl="0" marL="4699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/>
              <a:t>Create the Borderless SD-WAN Client template.</a:t>
            </a:r>
            <a:endParaRPr/>
          </a:p>
          <a:p>
            <a:pPr indent="-342900" lvl="0" marL="4699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/>
              <a:t>Deploy Endpoint SD-WAN as an add-on to the Netskope Client.</a:t>
            </a:r>
            <a:endParaRPr/>
          </a:p>
          <a:p>
            <a:pPr indent="-241300" lvl="0" marL="4699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/>
          </a:p>
          <a:p>
            <a:pPr indent="0" lvl="0" marL="1270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rPr lang="en-US"/>
              <a:t>End-to-End config guide: https://netskope.document360.io/docs/endpoint-sd-wan-windows-and-mac</a:t>
            </a:r>
            <a:endParaRPr/>
          </a:p>
        </p:txBody>
      </p:sp>
      <p:sp>
        <p:nvSpPr>
          <p:cNvPr id="227" name="Google Shape;227;p61"/>
          <p:cNvSpPr/>
          <p:nvPr/>
        </p:nvSpPr>
        <p:spPr>
          <a:xfrm>
            <a:off x="0" y="0"/>
            <a:ext cx="1665300" cy="271500"/>
          </a:xfrm>
          <a:prstGeom prst="homePlate">
            <a:avLst>
              <a:gd fmla="val 50000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Agreement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61"/>
          <p:cNvSpPr/>
          <p:nvPr/>
        </p:nvSpPr>
        <p:spPr>
          <a:xfrm>
            <a:off x="1747575" y="0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Pre-Deployment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61"/>
          <p:cNvSpPr/>
          <p:nvPr/>
        </p:nvSpPr>
        <p:spPr>
          <a:xfrm>
            <a:off x="361725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b="0" i="0" sz="12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61"/>
          <p:cNvSpPr/>
          <p:nvPr/>
        </p:nvSpPr>
        <p:spPr>
          <a:xfrm>
            <a:off x="5486925" y="-1"/>
            <a:ext cx="1787400" cy="271500"/>
          </a:xfrm>
          <a:prstGeom prst="chevron">
            <a:avLst>
              <a:gd fmla="val 50000" name="adj"/>
            </a:avLst>
          </a:prstGeom>
          <a:solidFill>
            <a:srgbClr val="9DE2E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Results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61"/>
          <p:cNvSpPr/>
          <p:nvPr/>
        </p:nvSpPr>
        <p:spPr>
          <a:xfrm>
            <a:off x="735660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4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Conclusion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2"/>
          <p:cNvSpPr txBox="1"/>
          <p:nvPr>
            <p:ph type="title"/>
          </p:nvPr>
        </p:nvSpPr>
        <p:spPr>
          <a:xfrm>
            <a:off x="457006" y="345553"/>
            <a:ext cx="8232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Use cases - UC 1: VoIP traffic steering</a:t>
            </a:r>
            <a:endParaRPr/>
          </a:p>
        </p:txBody>
      </p:sp>
      <p:sp>
        <p:nvSpPr>
          <p:cNvPr id="237" name="Google Shape;237;p62"/>
          <p:cNvSpPr/>
          <p:nvPr/>
        </p:nvSpPr>
        <p:spPr>
          <a:xfrm>
            <a:off x="0" y="0"/>
            <a:ext cx="1665300" cy="271500"/>
          </a:xfrm>
          <a:prstGeom prst="homePlate">
            <a:avLst>
              <a:gd fmla="val 50000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Agreement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62"/>
          <p:cNvSpPr/>
          <p:nvPr/>
        </p:nvSpPr>
        <p:spPr>
          <a:xfrm>
            <a:off x="1747575" y="0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Pre-Deployment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62"/>
          <p:cNvSpPr/>
          <p:nvPr/>
        </p:nvSpPr>
        <p:spPr>
          <a:xfrm>
            <a:off x="361725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b="0" i="0" sz="12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62"/>
          <p:cNvSpPr/>
          <p:nvPr/>
        </p:nvSpPr>
        <p:spPr>
          <a:xfrm>
            <a:off x="5486925" y="-1"/>
            <a:ext cx="1787400" cy="271500"/>
          </a:xfrm>
          <a:prstGeom prst="chevron">
            <a:avLst>
              <a:gd fmla="val 50000" name="adj"/>
            </a:avLst>
          </a:prstGeom>
          <a:solidFill>
            <a:srgbClr val="9DE2E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Results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62"/>
          <p:cNvSpPr/>
          <p:nvPr/>
        </p:nvSpPr>
        <p:spPr>
          <a:xfrm>
            <a:off x="735660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4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Conclusion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62"/>
          <p:cNvSpPr txBox="1"/>
          <p:nvPr/>
        </p:nvSpPr>
        <p:spPr>
          <a:xfrm>
            <a:off x="1065983" y="2183722"/>
            <a:ext cx="1195181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User 1</a:t>
            </a:r>
            <a:endParaRPr/>
          </a:p>
        </p:txBody>
      </p:sp>
      <p:sp>
        <p:nvSpPr>
          <p:cNvPr id="243" name="Google Shape;243;p62"/>
          <p:cNvSpPr/>
          <p:nvPr/>
        </p:nvSpPr>
        <p:spPr>
          <a:xfrm>
            <a:off x="5750227" y="2319006"/>
            <a:ext cx="2593391" cy="1100399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2"/>
          <p:cNvSpPr txBox="1"/>
          <p:nvPr/>
        </p:nvSpPr>
        <p:spPr>
          <a:xfrm>
            <a:off x="7464851" y="2025700"/>
            <a:ext cx="962123" cy="251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Data Center 1</a:t>
            </a:r>
            <a:endParaRPr/>
          </a:p>
        </p:txBody>
      </p:sp>
      <p:sp>
        <p:nvSpPr>
          <p:cNvPr id="245" name="Google Shape;245;p62"/>
          <p:cNvSpPr/>
          <p:nvPr/>
        </p:nvSpPr>
        <p:spPr>
          <a:xfrm>
            <a:off x="3032743" y="2281364"/>
            <a:ext cx="1621985" cy="827756"/>
          </a:xfrm>
          <a:custGeom>
            <a:rect b="b" l="l" r="r" t="t"/>
            <a:pathLst>
              <a:path extrusionOk="0" h="1134830" w="2154823">
                <a:moveTo>
                  <a:pt x="1303975" y="0"/>
                </a:moveTo>
                <a:cubicBezTo>
                  <a:pt x="1524382" y="0"/>
                  <a:pt x="1707064" y="161518"/>
                  <a:pt x="1738536" y="372895"/>
                </a:cubicBezTo>
                <a:cubicBezTo>
                  <a:pt x="1749503" y="370002"/>
                  <a:pt x="1760774" y="369505"/>
                  <a:pt x="1772161" y="369505"/>
                </a:cubicBezTo>
                <a:cubicBezTo>
                  <a:pt x="1983499" y="369505"/>
                  <a:pt x="2154823" y="540829"/>
                  <a:pt x="2154823" y="752167"/>
                </a:cubicBezTo>
                <a:cubicBezTo>
                  <a:pt x="2154823" y="963505"/>
                  <a:pt x="1983499" y="1134829"/>
                  <a:pt x="1772161" y="1134829"/>
                </a:cubicBezTo>
                <a:lnTo>
                  <a:pt x="1765065" y="1134252"/>
                </a:lnTo>
                <a:cubicBezTo>
                  <a:pt x="1764130" y="1134809"/>
                  <a:pt x="1763168" y="1134830"/>
                  <a:pt x="1762200" y="1134830"/>
                </a:cubicBezTo>
                <a:lnTo>
                  <a:pt x="308458" y="1134830"/>
                </a:lnTo>
                <a:lnTo>
                  <a:pt x="290561" y="1131217"/>
                </a:lnTo>
                <a:cubicBezTo>
                  <a:pt x="278021" y="1133816"/>
                  <a:pt x="265070" y="1134829"/>
                  <a:pt x="251882" y="1134829"/>
                </a:cubicBezTo>
                <a:cubicBezTo>
                  <a:pt x="112771" y="1134829"/>
                  <a:pt x="0" y="1022058"/>
                  <a:pt x="0" y="882947"/>
                </a:cubicBezTo>
                <a:cubicBezTo>
                  <a:pt x="0" y="743836"/>
                  <a:pt x="112771" y="631065"/>
                  <a:pt x="251882" y="631065"/>
                </a:cubicBezTo>
                <a:cubicBezTo>
                  <a:pt x="273097" y="631065"/>
                  <a:pt x="293699" y="633688"/>
                  <a:pt x="313176" y="639451"/>
                </a:cubicBezTo>
                <a:cubicBezTo>
                  <a:pt x="308724" y="620089"/>
                  <a:pt x="307141" y="600023"/>
                  <a:pt x="307141" y="579587"/>
                </a:cubicBezTo>
                <a:cubicBezTo>
                  <a:pt x="307141" y="365660"/>
                  <a:pt x="480564" y="192237"/>
                  <a:pt x="694491" y="192237"/>
                </a:cubicBezTo>
                <a:cubicBezTo>
                  <a:pt x="772276" y="192237"/>
                  <a:pt x="844706" y="215165"/>
                  <a:pt x="905064" y="255135"/>
                </a:cubicBezTo>
                <a:cubicBezTo>
                  <a:pt x="974269" y="104188"/>
                  <a:pt x="1126955" y="0"/>
                  <a:pt x="1303975" y="0"/>
                </a:cubicBezTo>
                <a:close/>
              </a:path>
            </a:pathLst>
          </a:cu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B246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6" name="Google Shape;246;p62"/>
          <p:cNvSpPr txBox="1"/>
          <p:nvPr/>
        </p:nvSpPr>
        <p:spPr>
          <a:xfrm>
            <a:off x="3544317" y="2651612"/>
            <a:ext cx="675185" cy="250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B246B"/>
                </a:solidFill>
                <a:latin typeface="Trebuchet MS"/>
                <a:ea typeface="Trebuchet MS"/>
                <a:cs typeface="Trebuchet MS"/>
                <a:sym typeface="Trebuchet MS"/>
              </a:rPr>
              <a:t>Internet</a:t>
            </a:r>
            <a:endParaRPr b="0" i="0" sz="1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47" name="Google Shape;247;p62"/>
          <p:cNvGrpSpPr/>
          <p:nvPr/>
        </p:nvGrpSpPr>
        <p:grpSpPr>
          <a:xfrm>
            <a:off x="1389563" y="1676339"/>
            <a:ext cx="570194" cy="570194"/>
            <a:chOff x="1531294" y="3742718"/>
            <a:chExt cx="570194" cy="570194"/>
          </a:xfrm>
        </p:grpSpPr>
        <p:pic>
          <p:nvPicPr>
            <p:cNvPr id="248" name="Google Shape;248;p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31294" y="3742718"/>
              <a:ext cx="570194" cy="5701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62"/>
            <p:cNvSpPr/>
            <p:nvPr/>
          </p:nvSpPr>
          <p:spPr>
            <a:xfrm>
              <a:off x="1652760" y="3895530"/>
              <a:ext cx="309480" cy="23288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50" name="Google Shape;250;p62"/>
          <p:cNvPicPr preferRelativeResize="0"/>
          <p:nvPr/>
        </p:nvPicPr>
        <p:blipFill rotWithShape="1">
          <a:blip r:embed="rId4">
            <a:alphaModFix/>
          </a:blip>
          <a:srcRect b="48507" l="58279" r="16540" t="13087"/>
          <a:stretch/>
        </p:blipFill>
        <p:spPr>
          <a:xfrm>
            <a:off x="1511029" y="1839428"/>
            <a:ext cx="302816" cy="2099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62"/>
          <p:cNvCxnSpPr/>
          <p:nvPr/>
        </p:nvCxnSpPr>
        <p:spPr>
          <a:xfrm>
            <a:off x="3128743" y="4472622"/>
            <a:ext cx="484870" cy="0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2" name="Google Shape;252;p62"/>
          <p:cNvCxnSpPr/>
          <p:nvPr/>
        </p:nvCxnSpPr>
        <p:spPr>
          <a:xfrm>
            <a:off x="3128743" y="4674657"/>
            <a:ext cx="484870" cy="0"/>
          </a:xfrm>
          <a:prstGeom prst="straightConnector1">
            <a:avLst/>
          </a:prstGeom>
          <a:noFill/>
          <a:ln cap="flat" cmpd="sng" w="127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53" name="Google Shape;253;p62"/>
          <p:cNvSpPr txBox="1"/>
          <p:nvPr/>
        </p:nvSpPr>
        <p:spPr>
          <a:xfrm>
            <a:off x="3626328" y="4574629"/>
            <a:ext cx="767927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Tunnel to SSE</a:t>
            </a:r>
            <a:endParaRPr/>
          </a:p>
        </p:txBody>
      </p:sp>
      <p:sp>
        <p:nvSpPr>
          <p:cNvPr id="254" name="Google Shape;254;p62"/>
          <p:cNvSpPr txBox="1"/>
          <p:nvPr/>
        </p:nvSpPr>
        <p:spPr>
          <a:xfrm>
            <a:off x="3525422" y="4370367"/>
            <a:ext cx="1037568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SDWAN Overlay</a:t>
            </a:r>
            <a:endParaRPr/>
          </a:p>
        </p:txBody>
      </p:sp>
      <p:grpSp>
        <p:nvGrpSpPr>
          <p:cNvPr id="255" name="Google Shape;255;p62"/>
          <p:cNvGrpSpPr/>
          <p:nvPr/>
        </p:nvGrpSpPr>
        <p:grpSpPr>
          <a:xfrm>
            <a:off x="3785898" y="1895947"/>
            <a:ext cx="1133212" cy="578318"/>
            <a:chOff x="5958349" y="2061487"/>
            <a:chExt cx="1133212" cy="578318"/>
          </a:xfrm>
        </p:grpSpPr>
        <p:sp>
          <p:nvSpPr>
            <p:cNvPr id="256" name="Google Shape;256;p62"/>
            <p:cNvSpPr/>
            <p:nvPr/>
          </p:nvSpPr>
          <p:spPr>
            <a:xfrm>
              <a:off x="5958349" y="2061487"/>
              <a:ext cx="1133212" cy="578318"/>
            </a:xfrm>
            <a:custGeom>
              <a:rect b="b" l="l" r="r" t="t"/>
              <a:pathLst>
                <a:path extrusionOk="0" h="1134830" w="2154823">
                  <a:moveTo>
                    <a:pt x="1303975" y="0"/>
                  </a:moveTo>
                  <a:cubicBezTo>
                    <a:pt x="1524382" y="0"/>
                    <a:pt x="1707064" y="161518"/>
                    <a:pt x="1738536" y="372895"/>
                  </a:cubicBezTo>
                  <a:cubicBezTo>
                    <a:pt x="1749503" y="370002"/>
                    <a:pt x="1760774" y="369505"/>
                    <a:pt x="1772161" y="369505"/>
                  </a:cubicBezTo>
                  <a:cubicBezTo>
                    <a:pt x="1983499" y="369505"/>
                    <a:pt x="2154823" y="540829"/>
                    <a:pt x="2154823" y="752167"/>
                  </a:cubicBezTo>
                  <a:cubicBezTo>
                    <a:pt x="2154823" y="963505"/>
                    <a:pt x="1983499" y="1134829"/>
                    <a:pt x="1772161" y="1134829"/>
                  </a:cubicBezTo>
                  <a:lnTo>
                    <a:pt x="1765065" y="1134252"/>
                  </a:lnTo>
                  <a:cubicBezTo>
                    <a:pt x="1764130" y="1134809"/>
                    <a:pt x="1763168" y="1134830"/>
                    <a:pt x="1762200" y="1134830"/>
                  </a:cubicBezTo>
                  <a:lnTo>
                    <a:pt x="308458" y="1134830"/>
                  </a:lnTo>
                  <a:lnTo>
                    <a:pt x="290561" y="1131217"/>
                  </a:lnTo>
                  <a:cubicBezTo>
                    <a:pt x="278021" y="1133816"/>
                    <a:pt x="265070" y="1134829"/>
                    <a:pt x="251882" y="1134829"/>
                  </a:cubicBezTo>
                  <a:cubicBezTo>
                    <a:pt x="112771" y="1134829"/>
                    <a:pt x="0" y="1022058"/>
                    <a:pt x="0" y="882947"/>
                  </a:cubicBezTo>
                  <a:cubicBezTo>
                    <a:pt x="0" y="743836"/>
                    <a:pt x="112771" y="631065"/>
                    <a:pt x="251882" y="631065"/>
                  </a:cubicBezTo>
                  <a:cubicBezTo>
                    <a:pt x="273097" y="631065"/>
                    <a:pt x="293699" y="633688"/>
                    <a:pt x="313176" y="639451"/>
                  </a:cubicBezTo>
                  <a:cubicBezTo>
                    <a:pt x="308724" y="620089"/>
                    <a:pt x="307141" y="600023"/>
                    <a:pt x="307141" y="579587"/>
                  </a:cubicBezTo>
                  <a:cubicBezTo>
                    <a:pt x="307141" y="365660"/>
                    <a:pt x="480564" y="192237"/>
                    <a:pt x="694491" y="192237"/>
                  </a:cubicBezTo>
                  <a:cubicBezTo>
                    <a:pt x="772276" y="192237"/>
                    <a:pt x="844706" y="215165"/>
                    <a:pt x="905064" y="255135"/>
                  </a:cubicBezTo>
                  <a:cubicBezTo>
                    <a:pt x="974269" y="104188"/>
                    <a:pt x="1126955" y="0"/>
                    <a:pt x="130397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58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25400">
                <a:srgbClr val="000000">
                  <a:alpha val="40000"/>
                </a:srgbClr>
              </a:outerShdw>
            </a:effectLst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0B2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NewEdge</a:t>
              </a:r>
              <a:endParaRPr b="1" i="0" sz="800" u="none" cap="none" strike="noStrike">
                <a:solidFill>
                  <a:srgbClr val="0B246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pic>
          <p:nvPicPr>
            <p:cNvPr descr="NET_horizontal_fullcolor.png" id="257" name="Google Shape;257;p6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70162" y="2273811"/>
              <a:ext cx="335703" cy="1831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sp>
        <p:nvSpPr>
          <p:cNvPr id="258" name="Google Shape;258;p62"/>
          <p:cNvSpPr txBox="1"/>
          <p:nvPr/>
        </p:nvSpPr>
        <p:spPr>
          <a:xfrm>
            <a:off x="1131682" y="2346387"/>
            <a:ext cx="1061509" cy="219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bwanif 10.88.88.77</a:t>
            </a:r>
            <a:endParaRPr/>
          </a:p>
        </p:txBody>
      </p:sp>
      <p:pic>
        <p:nvPicPr>
          <p:cNvPr id="259" name="Google Shape;259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72051" y="2512694"/>
            <a:ext cx="529410" cy="529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62"/>
          <p:cNvPicPr preferRelativeResize="0"/>
          <p:nvPr/>
        </p:nvPicPr>
        <p:blipFill rotWithShape="1">
          <a:blip r:embed="rId4">
            <a:alphaModFix/>
          </a:blip>
          <a:srcRect b="48507" l="58279" r="16540" t="13087"/>
          <a:stretch/>
        </p:blipFill>
        <p:spPr>
          <a:xfrm>
            <a:off x="6167319" y="2885830"/>
            <a:ext cx="138873" cy="96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" name="Google Shape;261;p62"/>
          <p:cNvCxnSpPr>
            <a:stCxn id="259" idx="3"/>
            <a:endCxn id="262" idx="1"/>
          </p:cNvCxnSpPr>
          <p:nvPr/>
        </p:nvCxnSpPr>
        <p:spPr>
          <a:xfrm>
            <a:off x="6501461" y="2777399"/>
            <a:ext cx="381000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62" name="Google Shape;262;p6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82395" y="2630812"/>
            <a:ext cx="276225" cy="293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" name="Google Shape;263;p62"/>
          <p:cNvCxnSpPr/>
          <p:nvPr/>
        </p:nvCxnSpPr>
        <p:spPr>
          <a:xfrm>
            <a:off x="7158620" y="2787090"/>
            <a:ext cx="419027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62"/>
          <p:cNvSpPr txBox="1"/>
          <p:nvPr/>
        </p:nvSpPr>
        <p:spPr>
          <a:xfrm>
            <a:off x="5843573" y="3050937"/>
            <a:ext cx="806459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SDWAN Hub 1</a:t>
            </a:r>
            <a:endParaRPr/>
          </a:p>
        </p:txBody>
      </p:sp>
      <p:sp>
        <p:nvSpPr>
          <p:cNvPr id="265" name="Google Shape;265;p62"/>
          <p:cNvSpPr txBox="1"/>
          <p:nvPr/>
        </p:nvSpPr>
        <p:spPr>
          <a:xfrm>
            <a:off x="6191105" y="2319006"/>
            <a:ext cx="1568058" cy="219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  BWAN HUB &lt;-- 10.88.88.0/24</a:t>
            </a:r>
            <a:endParaRPr/>
          </a:p>
        </p:txBody>
      </p:sp>
      <p:sp>
        <p:nvSpPr>
          <p:cNvPr id="266" name="Google Shape;266;p62"/>
          <p:cNvSpPr txBox="1"/>
          <p:nvPr/>
        </p:nvSpPr>
        <p:spPr>
          <a:xfrm>
            <a:off x="7473203" y="3030731"/>
            <a:ext cx="68060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VoIP Server</a:t>
            </a:r>
            <a:endParaRPr/>
          </a:p>
        </p:txBody>
      </p:sp>
      <p:pic>
        <p:nvPicPr>
          <p:cNvPr descr="A picture containing light&#10;&#10;Description automatically generated" id="267" name="Google Shape;267;p6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57628" y="687461"/>
            <a:ext cx="1491527" cy="998851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62"/>
          <p:cNvSpPr txBox="1"/>
          <p:nvPr/>
        </p:nvSpPr>
        <p:spPr>
          <a:xfrm>
            <a:off x="2923808" y="1254218"/>
            <a:ext cx="6897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5BD"/>
              </a:buClr>
              <a:buSzPts val="800"/>
              <a:buFont typeface="Arial"/>
              <a:buNone/>
            </a:pPr>
            <a:r>
              <a:rPr b="0" i="0" lang="en-US" sz="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SASE Orchestrator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559"/>
              </a:buClr>
              <a:buSzPts val="8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62"/>
          <p:cNvSpPr txBox="1"/>
          <p:nvPr/>
        </p:nvSpPr>
        <p:spPr>
          <a:xfrm>
            <a:off x="3424041" y="1254224"/>
            <a:ext cx="587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5BD"/>
              </a:buClr>
              <a:buSzPts val="800"/>
              <a:buFont typeface="Arial"/>
              <a:buNone/>
            </a:pPr>
            <a:r>
              <a:rPr b="0" i="0" lang="en-US" sz="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SASE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5BD"/>
              </a:buClr>
              <a:buSzPts val="800"/>
              <a:buFont typeface="Arial"/>
              <a:buNone/>
            </a:pPr>
            <a:r>
              <a:rPr b="0" i="0" lang="en-US" sz="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Controller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559"/>
              </a:buClr>
              <a:buSzPts val="8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0" name="Google Shape;270;p6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00898" y="1084123"/>
            <a:ext cx="233675" cy="203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6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145228" y="1084123"/>
            <a:ext cx="233675" cy="203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2" name="Google Shape;272;p62"/>
          <p:cNvCxnSpPr/>
          <p:nvPr/>
        </p:nvCxnSpPr>
        <p:spPr>
          <a:xfrm>
            <a:off x="3119227" y="4272258"/>
            <a:ext cx="484870" cy="0"/>
          </a:xfrm>
          <a:prstGeom prst="straightConnector1">
            <a:avLst/>
          </a:prstGeom>
          <a:noFill/>
          <a:ln cap="flat" cmpd="sng" w="12700">
            <a:solidFill>
              <a:srgbClr val="2A2B2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3" name="Google Shape;273;p62"/>
          <p:cNvSpPr txBox="1"/>
          <p:nvPr/>
        </p:nvSpPr>
        <p:spPr>
          <a:xfrm>
            <a:off x="3586211" y="4170560"/>
            <a:ext cx="1501815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Management Plane Connection</a:t>
            </a:r>
            <a:endParaRPr/>
          </a:p>
        </p:txBody>
      </p:sp>
      <p:cxnSp>
        <p:nvCxnSpPr>
          <p:cNvPr id="274" name="Google Shape;274;p62"/>
          <p:cNvCxnSpPr>
            <a:endCxn id="259" idx="1"/>
          </p:cNvCxnSpPr>
          <p:nvPr/>
        </p:nvCxnSpPr>
        <p:spPr>
          <a:xfrm>
            <a:off x="4654751" y="2777399"/>
            <a:ext cx="1317300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62"/>
          <p:cNvSpPr txBox="1"/>
          <p:nvPr/>
        </p:nvSpPr>
        <p:spPr>
          <a:xfrm>
            <a:off x="1065983" y="3926796"/>
            <a:ext cx="1195181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User 2</a:t>
            </a:r>
            <a:endParaRPr/>
          </a:p>
        </p:txBody>
      </p:sp>
      <p:grpSp>
        <p:nvGrpSpPr>
          <p:cNvPr id="276" name="Google Shape;276;p62"/>
          <p:cNvGrpSpPr/>
          <p:nvPr/>
        </p:nvGrpSpPr>
        <p:grpSpPr>
          <a:xfrm>
            <a:off x="1389563" y="3419413"/>
            <a:ext cx="570194" cy="570194"/>
            <a:chOff x="1531294" y="3742718"/>
            <a:chExt cx="570194" cy="570194"/>
          </a:xfrm>
        </p:grpSpPr>
        <p:pic>
          <p:nvPicPr>
            <p:cNvPr id="277" name="Google Shape;277;p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31294" y="3742718"/>
              <a:ext cx="570194" cy="5701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" name="Google Shape;278;p62"/>
            <p:cNvSpPr/>
            <p:nvPr/>
          </p:nvSpPr>
          <p:spPr>
            <a:xfrm>
              <a:off x="1652760" y="3895530"/>
              <a:ext cx="309480" cy="23288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9" name="Google Shape;279;p62"/>
          <p:cNvPicPr preferRelativeResize="0"/>
          <p:nvPr/>
        </p:nvPicPr>
        <p:blipFill rotWithShape="1">
          <a:blip r:embed="rId4">
            <a:alphaModFix/>
          </a:blip>
          <a:srcRect b="48507" l="58279" r="16540" t="13087"/>
          <a:stretch/>
        </p:blipFill>
        <p:spPr>
          <a:xfrm>
            <a:off x="1511029" y="3582502"/>
            <a:ext cx="302816" cy="209904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62"/>
          <p:cNvSpPr txBox="1"/>
          <p:nvPr/>
        </p:nvSpPr>
        <p:spPr>
          <a:xfrm>
            <a:off x="1131682" y="4089461"/>
            <a:ext cx="1061509" cy="219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bwanif 10.88.88.64</a:t>
            </a:r>
            <a:endParaRPr/>
          </a:p>
        </p:txBody>
      </p:sp>
      <p:cxnSp>
        <p:nvCxnSpPr>
          <p:cNvPr id="281" name="Google Shape;281;p62"/>
          <p:cNvCxnSpPr/>
          <p:nvPr/>
        </p:nvCxnSpPr>
        <p:spPr>
          <a:xfrm>
            <a:off x="1959757" y="1955185"/>
            <a:ext cx="1340100" cy="6108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62"/>
          <p:cNvCxnSpPr>
            <a:stCxn id="277" idx="3"/>
          </p:cNvCxnSpPr>
          <p:nvPr/>
        </p:nvCxnSpPr>
        <p:spPr>
          <a:xfrm flipH="1" rot="10800000">
            <a:off x="1959757" y="3016310"/>
            <a:ext cx="1095600" cy="688200"/>
          </a:xfrm>
          <a:prstGeom prst="bentConnector3">
            <a:avLst>
              <a:gd fmla="val 60881" name="adj1"/>
            </a:avLst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62"/>
          <p:cNvSpPr/>
          <p:nvPr/>
        </p:nvSpPr>
        <p:spPr>
          <a:xfrm>
            <a:off x="1995777" y="2020522"/>
            <a:ext cx="3975652" cy="690037"/>
          </a:xfrm>
          <a:custGeom>
            <a:rect b="b" l="l" r="r" t="t"/>
            <a:pathLst>
              <a:path extrusionOk="0" h="690037" w="3975652">
                <a:moveTo>
                  <a:pt x="0" y="6224"/>
                </a:moveTo>
                <a:cubicBezTo>
                  <a:pt x="192156" y="-3715"/>
                  <a:pt x="384313" y="-13654"/>
                  <a:pt x="477078" y="77786"/>
                </a:cubicBezTo>
                <a:cubicBezTo>
                  <a:pt x="569843" y="169226"/>
                  <a:pt x="443948" y="460774"/>
                  <a:pt x="556591" y="554864"/>
                </a:cubicBezTo>
                <a:cubicBezTo>
                  <a:pt x="669235" y="648955"/>
                  <a:pt x="583096" y="619800"/>
                  <a:pt x="1152939" y="642329"/>
                </a:cubicBezTo>
                <a:cubicBezTo>
                  <a:pt x="1722783" y="664858"/>
                  <a:pt x="2849217" y="677447"/>
                  <a:pt x="3975652" y="690037"/>
                </a:cubicBezTo>
              </a:path>
            </a:pathLst>
          </a:custGeom>
          <a:noFill/>
          <a:ln cap="flat" cmpd="sng" w="9525">
            <a:solidFill>
              <a:srgbClr val="00B05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62"/>
          <p:cNvSpPr/>
          <p:nvPr/>
        </p:nvSpPr>
        <p:spPr>
          <a:xfrm flipH="1" rot="10800000">
            <a:off x="1959757" y="2871770"/>
            <a:ext cx="3975652" cy="748238"/>
          </a:xfrm>
          <a:custGeom>
            <a:rect b="b" l="l" r="r" t="t"/>
            <a:pathLst>
              <a:path extrusionOk="0" h="690037" w="3975652">
                <a:moveTo>
                  <a:pt x="0" y="6224"/>
                </a:moveTo>
                <a:cubicBezTo>
                  <a:pt x="192156" y="-3715"/>
                  <a:pt x="384313" y="-13654"/>
                  <a:pt x="477078" y="77786"/>
                </a:cubicBezTo>
                <a:cubicBezTo>
                  <a:pt x="569843" y="169226"/>
                  <a:pt x="443948" y="460774"/>
                  <a:pt x="556591" y="554864"/>
                </a:cubicBezTo>
                <a:cubicBezTo>
                  <a:pt x="669235" y="648955"/>
                  <a:pt x="583096" y="619800"/>
                  <a:pt x="1152939" y="642329"/>
                </a:cubicBezTo>
                <a:cubicBezTo>
                  <a:pt x="1722783" y="664858"/>
                  <a:pt x="2849217" y="677447"/>
                  <a:pt x="3975652" y="690037"/>
                </a:cubicBezTo>
              </a:path>
            </a:pathLst>
          </a:custGeom>
          <a:noFill/>
          <a:ln cap="flat" cmpd="sng" w="9525">
            <a:solidFill>
              <a:srgbClr val="00B05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5" name="Google Shape;285;p62"/>
          <p:cNvCxnSpPr>
            <a:endCxn id="248" idx="1"/>
          </p:cNvCxnSpPr>
          <p:nvPr/>
        </p:nvCxnSpPr>
        <p:spPr>
          <a:xfrm flipH="1">
            <a:off x="1389563" y="1374936"/>
            <a:ext cx="1518000" cy="586500"/>
          </a:xfrm>
          <a:prstGeom prst="bentConnector3">
            <a:avLst>
              <a:gd fmla="val 115059" name="adj1"/>
            </a:avLst>
          </a:prstGeom>
          <a:noFill/>
          <a:ln cap="flat" cmpd="sng" w="9525">
            <a:solidFill>
              <a:srgbClr val="2A2B2D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6" name="Google Shape;286;p62"/>
          <p:cNvCxnSpPr>
            <a:endCxn id="277" idx="1"/>
          </p:cNvCxnSpPr>
          <p:nvPr/>
        </p:nvCxnSpPr>
        <p:spPr>
          <a:xfrm rot="5400000">
            <a:off x="915863" y="1696010"/>
            <a:ext cx="2482200" cy="1534800"/>
          </a:xfrm>
          <a:prstGeom prst="bentConnector4">
            <a:avLst>
              <a:gd fmla="val 50" name="adj1"/>
              <a:gd fmla="val 124738" name="adj2"/>
            </a:avLst>
          </a:prstGeom>
          <a:noFill/>
          <a:ln cap="flat" cmpd="sng" w="9525">
            <a:solidFill>
              <a:srgbClr val="2A2B2D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7" name="Google Shape;287;p62"/>
          <p:cNvCxnSpPr/>
          <p:nvPr/>
        </p:nvCxnSpPr>
        <p:spPr>
          <a:xfrm>
            <a:off x="3116028" y="4876691"/>
            <a:ext cx="484870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62"/>
          <p:cNvSpPr txBox="1"/>
          <p:nvPr/>
        </p:nvSpPr>
        <p:spPr>
          <a:xfrm>
            <a:off x="3634804" y="4778891"/>
            <a:ext cx="2115423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SIP/VoIP/UC protocols (RTP, SIP, Stun, etc.)</a:t>
            </a:r>
            <a:endParaRPr/>
          </a:p>
        </p:txBody>
      </p:sp>
      <p:cxnSp>
        <p:nvCxnSpPr>
          <p:cNvPr id="289" name="Google Shape;289;p62"/>
          <p:cNvCxnSpPr>
            <a:stCxn id="290" idx="3"/>
          </p:cNvCxnSpPr>
          <p:nvPr/>
        </p:nvCxnSpPr>
        <p:spPr>
          <a:xfrm rot="10800000">
            <a:off x="6452051" y="3262831"/>
            <a:ext cx="1012800" cy="885300"/>
          </a:xfrm>
          <a:prstGeom prst="straightConnector1">
            <a:avLst/>
          </a:prstGeom>
          <a:noFill/>
          <a:ln cap="flat" cmpd="sng" w="12700">
            <a:solidFill>
              <a:srgbClr val="FF82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62"/>
          <p:cNvCxnSpPr>
            <a:stCxn id="290" idx="1"/>
          </p:cNvCxnSpPr>
          <p:nvPr/>
        </p:nvCxnSpPr>
        <p:spPr>
          <a:xfrm flipH="1" rot="10800000">
            <a:off x="5349428" y="3279931"/>
            <a:ext cx="697500" cy="868200"/>
          </a:xfrm>
          <a:prstGeom prst="straightConnector1">
            <a:avLst/>
          </a:prstGeom>
          <a:noFill/>
          <a:ln cap="flat" cmpd="sng" w="12700">
            <a:solidFill>
              <a:srgbClr val="FF82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62"/>
          <p:cNvSpPr txBox="1"/>
          <p:nvPr/>
        </p:nvSpPr>
        <p:spPr>
          <a:xfrm>
            <a:off x="5779605" y="3144227"/>
            <a:ext cx="9384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8200"/>
                </a:solidFill>
                <a:latin typeface="Arial"/>
                <a:ea typeface="Arial"/>
                <a:cs typeface="Arial"/>
                <a:sym typeface="Arial"/>
              </a:rPr>
              <a:t>Policy</a:t>
            </a:r>
            <a:endParaRPr b="0" i="0" sz="900" u="none" cap="none" strike="noStrike">
              <a:solidFill>
                <a:srgbClr val="FF82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62"/>
          <p:cNvSpPr txBox="1"/>
          <p:nvPr/>
        </p:nvSpPr>
        <p:spPr>
          <a:xfrm>
            <a:off x="5349428" y="3993143"/>
            <a:ext cx="2115423" cy="3099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5565A"/>
                </a:solidFill>
                <a:latin typeface="Arial"/>
                <a:ea typeface="Arial"/>
                <a:cs typeface="Arial"/>
                <a:sym typeface="Arial"/>
              </a:rPr>
              <a:t>User 1 can connect to VoIP Server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5565A"/>
                </a:solidFill>
                <a:latin typeface="Arial"/>
                <a:ea typeface="Arial"/>
                <a:cs typeface="Arial"/>
                <a:sym typeface="Arial"/>
              </a:rPr>
              <a:t>VoIP Server can connect to User 2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3" name="Google Shape;293;p6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873235" y="1653072"/>
            <a:ext cx="295137" cy="295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6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901708" y="3764984"/>
            <a:ext cx="295137" cy="295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6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507148" y="2481710"/>
            <a:ext cx="6350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62"/>
          <p:cNvSpPr/>
          <p:nvPr/>
        </p:nvSpPr>
        <p:spPr>
          <a:xfrm>
            <a:off x="2162373" y="1780278"/>
            <a:ext cx="5512549" cy="2060161"/>
          </a:xfrm>
          <a:custGeom>
            <a:rect b="b" l="l" r="r" t="t"/>
            <a:pathLst>
              <a:path extrusionOk="0" h="2060161" w="5854921">
                <a:moveTo>
                  <a:pt x="0" y="48481"/>
                </a:moveTo>
                <a:cubicBezTo>
                  <a:pt x="264414" y="5047"/>
                  <a:pt x="528828" y="-38387"/>
                  <a:pt x="649224" y="57625"/>
                </a:cubicBezTo>
                <a:cubicBezTo>
                  <a:pt x="769620" y="153637"/>
                  <a:pt x="569976" y="502633"/>
                  <a:pt x="722376" y="624553"/>
                </a:cubicBezTo>
                <a:cubicBezTo>
                  <a:pt x="874776" y="746473"/>
                  <a:pt x="763524" y="740377"/>
                  <a:pt x="1563624" y="789145"/>
                </a:cubicBezTo>
                <a:cubicBezTo>
                  <a:pt x="2363724" y="837913"/>
                  <a:pt x="4931664" y="859249"/>
                  <a:pt x="5522976" y="917161"/>
                </a:cubicBezTo>
                <a:cubicBezTo>
                  <a:pt x="6114288" y="975073"/>
                  <a:pt x="5878068" y="1068037"/>
                  <a:pt x="5111496" y="1136617"/>
                </a:cubicBezTo>
                <a:cubicBezTo>
                  <a:pt x="4344924" y="1205197"/>
                  <a:pt x="1658112" y="1205197"/>
                  <a:pt x="923544" y="1328641"/>
                </a:cubicBezTo>
                <a:cubicBezTo>
                  <a:pt x="188976" y="1452085"/>
                  <a:pt x="833628" y="1755361"/>
                  <a:pt x="704088" y="1877281"/>
                </a:cubicBezTo>
                <a:cubicBezTo>
                  <a:pt x="574548" y="1999201"/>
                  <a:pt x="360426" y="2029681"/>
                  <a:pt x="146304" y="2060161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3"/>
          <p:cNvSpPr txBox="1"/>
          <p:nvPr/>
        </p:nvSpPr>
        <p:spPr>
          <a:xfrm>
            <a:off x="808740" y="3208696"/>
            <a:ext cx="1195181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User 1</a:t>
            </a:r>
            <a:endParaRPr/>
          </a:p>
        </p:txBody>
      </p:sp>
      <p:sp>
        <p:nvSpPr>
          <p:cNvPr id="302" name="Google Shape;302;p63"/>
          <p:cNvSpPr/>
          <p:nvPr/>
        </p:nvSpPr>
        <p:spPr>
          <a:xfrm>
            <a:off x="5964073" y="1711666"/>
            <a:ext cx="2593391" cy="2705293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3"/>
          <p:cNvSpPr txBox="1"/>
          <p:nvPr/>
        </p:nvSpPr>
        <p:spPr>
          <a:xfrm>
            <a:off x="7678697" y="1418360"/>
            <a:ext cx="962123" cy="251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Data Center 1</a:t>
            </a:r>
            <a:endParaRPr/>
          </a:p>
        </p:txBody>
      </p:sp>
      <p:sp>
        <p:nvSpPr>
          <p:cNvPr id="304" name="Google Shape;304;p63"/>
          <p:cNvSpPr/>
          <p:nvPr/>
        </p:nvSpPr>
        <p:spPr>
          <a:xfrm>
            <a:off x="2969133" y="2329905"/>
            <a:ext cx="1621985" cy="827756"/>
          </a:xfrm>
          <a:custGeom>
            <a:rect b="b" l="l" r="r" t="t"/>
            <a:pathLst>
              <a:path extrusionOk="0" h="1134830" w="2154823">
                <a:moveTo>
                  <a:pt x="1303975" y="0"/>
                </a:moveTo>
                <a:cubicBezTo>
                  <a:pt x="1524382" y="0"/>
                  <a:pt x="1707064" y="161518"/>
                  <a:pt x="1738536" y="372895"/>
                </a:cubicBezTo>
                <a:cubicBezTo>
                  <a:pt x="1749503" y="370002"/>
                  <a:pt x="1760774" y="369505"/>
                  <a:pt x="1772161" y="369505"/>
                </a:cubicBezTo>
                <a:cubicBezTo>
                  <a:pt x="1983499" y="369505"/>
                  <a:pt x="2154823" y="540829"/>
                  <a:pt x="2154823" y="752167"/>
                </a:cubicBezTo>
                <a:cubicBezTo>
                  <a:pt x="2154823" y="963505"/>
                  <a:pt x="1983499" y="1134829"/>
                  <a:pt x="1772161" y="1134829"/>
                </a:cubicBezTo>
                <a:lnTo>
                  <a:pt x="1765065" y="1134252"/>
                </a:lnTo>
                <a:cubicBezTo>
                  <a:pt x="1764130" y="1134809"/>
                  <a:pt x="1763168" y="1134830"/>
                  <a:pt x="1762200" y="1134830"/>
                </a:cubicBezTo>
                <a:lnTo>
                  <a:pt x="308458" y="1134830"/>
                </a:lnTo>
                <a:lnTo>
                  <a:pt x="290561" y="1131217"/>
                </a:lnTo>
                <a:cubicBezTo>
                  <a:pt x="278021" y="1133816"/>
                  <a:pt x="265070" y="1134829"/>
                  <a:pt x="251882" y="1134829"/>
                </a:cubicBezTo>
                <a:cubicBezTo>
                  <a:pt x="112771" y="1134829"/>
                  <a:pt x="0" y="1022058"/>
                  <a:pt x="0" y="882947"/>
                </a:cubicBezTo>
                <a:cubicBezTo>
                  <a:pt x="0" y="743836"/>
                  <a:pt x="112771" y="631065"/>
                  <a:pt x="251882" y="631065"/>
                </a:cubicBezTo>
                <a:cubicBezTo>
                  <a:pt x="273097" y="631065"/>
                  <a:pt x="293699" y="633688"/>
                  <a:pt x="313176" y="639451"/>
                </a:cubicBezTo>
                <a:cubicBezTo>
                  <a:pt x="308724" y="620089"/>
                  <a:pt x="307141" y="600023"/>
                  <a:pt x="307141" y="579587"/>
                </a:cubicBezTo>
                <a:cubicBezTo>
                  <a:pt x="307141" y="365660"/>
                  <a:pt x="480564" y="192237"/>
                  <a:pt x="694491" y="192237"/>
                </a:cubicBezTo>
                <a:cubicBezTo>
                  <a:pt x="772276" y="192237"/>
                  <a:pt x="844706" y="215165"/>
                  <a:pt x="905064" y="255135"/>
                </a:cubicBezTo>
                <a:cubicBezTo>
                  <a:pt x="974269" y="104188"/>
                  <a:pt x="1126955" y="0"/>
                  <a:pt x="1303975" y="0"/>
                </a:cubicBezTo>
                <a:close/>
              </a:path>
            </a:pathLst>
          </a:cu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B246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05" name="Google Shape;305;p63"/>
          <p:cNvSpPr txBox="1"/>
          <p:nvPr/>
        </p:nvSpPr>
        <p:spPr>
          <a:xfrm>
            <a:off x="3815883" y="2586622"/>
            <a:ext cx="675185" cy="250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B246B"/>
                </a:solidFill>
                <a:latin typeface="Trebuchet MS"/>
                <a:ea typeface="Trebuchet MS"/>
                <a:cs typeface="Trebuchet MS"/>
                <a:sym typeface="Trebuchet MS"/>
              </a:rPr>
              <a:t>Internet</a:t>
            </a:r>
            <a:endParaRPr b="0" i="0" sz="1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06" name="Google Shape;306;p63"/>
          <p:cNvGrpSpPr/>
          <p:nvPr/>
        </p:nvGrpSpPr>
        <p:grpSpPr>
          <a:xfrm>
            <a:off x="1132320" y="2701313"/>
            <a:ext cx="570194" cy="570194"/>
            <a:chOff x="1531294" y="3742718"/>
            <a:chExt cx="570194" cy="570194"/>
          </a:xfrm>
        </p:grpSpPr>
        <p:pic>
          <p:nvPicPr>
            <p:cNvPr id="307" name="Google Shape;307;p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31294" y="3742718"/>
              <a:ext cx="570194" cy="5701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p63"/>
            <p:cNvSpPr/>
            <p:nvPr/>
          </p:nvSpPr>
          <p:spPr>
            <a:xfrm>
              <a:off x="1652760" y="3895530"/>
              <a:ext cx="309480" cy="23288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9" name="Google Shape;309;p63"/>
          <p:cNvPicPr preferRelativeResize="0"/>
          <p:nvPr/>
        </p:nvPicPr>
        <p:blipFill rotWithShape="1">
          <a:blip r:embed="rId4">
            <a:alphaModFix/>
          </a:blip>
          <a:srcRect b="48507" l="58279" r="16540" t="13087"/>
          <a:stretch/>
        </p:blipFill>
        <p:spPr>
          <a:xfrm>
            <a:off x="1253786" y="2864402"/>
            <a:ext cx="302816" cy="2099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0" name="Google Shape;310;p63"/>
          <p:cNvCxnSpPr/>
          <p:nvPr/>
        </p:nvCxnSpPr>
        <p:spPr>
          <a:xfrm>
            <a:off x="2934334" y="4430569"/>
            <a:ext cx="484870" cy="0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11" name="Google Shape;311;p63"/>
          <p:cNvCxnSpPr/>
          <p:nvPr/>
        </p:nvCxnSpPr>
        <p:spPr>
          <a:xfrm>
            <a:off x="2934334" y="4632604"/>
            <a:ext cx="484870" cy="0"/>
          </a:xfrm>
          <a:prstGeom prst="straightConnector1">
            <a:avLst/>
          </a:prstGeom>
          <a:noFill/>
          <a:ln cap="flat" cmpd="sng" w="127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12" name="Google Shape;312;p63"/>
          <p:cNvSpPr txBox="1"/>
          <p:nvPr/>
        </p:nvSpPr>
        <p:spPr>
          <a:xfrm>
            <a:off x="3431919" y="4532576"/>
            <a:ext cx="767927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Tunnel to SSE</a:t>
            </a:r>
            <a:endParaRPr/>
          </a:p>
        </p:txBody>
      </p:sp>
      <p:sp>
        <p:nvSpPr>
          <p:cNvPr id="313" name="Google Shape;313;p63"/>
          <p:cNvSpPr txBox="1"/>
          <p:nvPr/>
        </p:nvSpPr>
        <p:spPr>
          <a:xfrm>
            <a:off x="3331013" y="4328314"/>
            <a:ext cx="1037568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SDWAN Overlay</a:t>
            </a:r>
            <a:endParaRPr/>
          </a:p>
        </p:txBody>
      </p:sp>
      <p:grpSp>
        <p:nvGrpSpPr>
          <p:cNvPr id="314" name="Google Shape;314;p63"/>
          <p:cNvGrpSpPr/>
          <p:nvPr/>
        </p:nvGrpSpPr>
        <p:grpSpPr>
          <a:xfrm>
            <a:off x="3722288" y="1944488"/>
            <a:ext cx="1133212" cy="578318"/>
            <a:chOff x="5958349" y="2061487"/>
            <a:chExt cx="1133212" cy="578318"/>
          </a:xfrm>
        </p:grpSpPr>
        <p:sp>
          <p:nvSpPr>
            <p:cNvPr id="315" name="Google Shape;315;p63"/>
            <p:cNvSpPr/>
            <p:nvPr/>
          </p:nvSpPr>
          <p:spPr>
            <a:xfrm>
              <a:off x="5958349" y="2061487"/>
              <a:ext cx="1133212" cy="578318"/>
            </a:xfrm>
            <a:custGeom>
              <a:rect b="b" l="l" r="r" t="t"/>
              <a:pathLst>
                <a:path extrusionOk="0" h="1134830" w="2154823">
                  <a:moveTo>
                    <a:pt x="1303975" y="0"/>
                  </a:moveTo>
                  <a:cubicBezTo>
                    <a:pt x="1524382" y="0"/>
                    <a:pt x="1707064" y="161518"/>
                    <a:pt x="1738536" y="372895"/>
                  </a:cubicBezTo>
                  <a:cubicBezTo>
                    <a:pt x="1749503" y="370002"/>
                    <a:pt x="1760774" y="369505"/>
                    <a:pt x="1772161" y="369505"/>
                  </a:cubicBezTo>
                  <a:cubicBezTo>
                    <a:pt x="1983499" y="369505"/>
                    <a:pt x="2154823" y="540829"/>
                    <a:pt x="2154823" y="752167"/>
                  </a:cubicBezTo>
                  <a:cubicBezTo>
                    <a:pt x="2154823" y="963505"/>
                    <a:pt x="1983499" y="1134829"/>
                    <a:pt x="1772161" y="1134829"/>
                  </a:cubicBezTo>
                  <a:lnTo>
                    <a:pt x="1765065" y="1134252"/>
                  </a:lnTo>
                  <a:cubicBezTo>
                    <a:pt x="1764130" y="1134809"/>
                    <a:pt x="1763168" y="1134830"/>
                    <a:pt x="1762200" y="1134830"/>
                  </a:cubicBezTo>
                  <a:lnTo>
                    <a:pt x="308458" y="1134830"/>
                  </a:lnTo>
                  <a:lnTo>
                    <a:pt x="290561" y="1131217"/>
                  </a:lnTo>
                  <a:cubicBezTo>
                    <a:pt x="278021" y="1133816"/>
                    <a:pt x="265070" y="1134829"/>
                    <a:pt x="251882" y="1134829"/>
                  </a:cubicBezTo>
                  <a:cubicBezTo>
                    <a:pt x="112771" y="1134829"/>
                    <a:pt x="0" y="1022058"/>
                    <a:pt x="0" y="882947"/>
                  </a:cubicBezTo>
                  <a:cubicBezTo>
                    <a:pt x="0" y="743836"/>
                    <a:pt x="112771" y="631065"/>
                    <a:pt x="251882" y="631065"/>
                  </a:cubicBezTo>
                  <a:cubicBezTo>
                    <a:pt x="273097" y="631065"/>
                    <a:pt x="293699" y="633688"/>
                    <a:pt x="313176" y="639451"/>
                  </a:cubicBezTo>
                  <a:cubicBezTo>
                    <a:pt x="308724" y="620089"/>
                    <a:pt x="307141" y="600023"/>
                    <a:pt x="307141" y="579587"/>
                  </a:cubicBezTo>
                  <a:cubicBezTo>
                    <a:pt x="307141" y="365660"/>
                    <a:pt x="480564" y="192237"/>
                    <a:pt x="694491" y="192237"/>
                  </a:cubicBezTo>
                  <a:cubicBezTo>
                    <a:pt x="772276" y="192237"/>
                    <a:pt x="844706" y="215165"/>
                    <a:pt x="905064" y="255135"/>
                  </a:cubicBezTo>
                  <a:cubicBezTo>
                    <a:pt x="974269" y="104188"/>
                    <a:pt x="1126955" y="0"/>
                    <a:pt x="130397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58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25400">
                <a:srgbClr val="000000">
                  <a:alpha val="40000"/>
                </a:srgbClr>
              </a:outerShdw>
            </a:effectLst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0B2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NewEdge</a:t>
              </a:r>
              <a:endParaRPr b="1" i="0" sz="800" u="none" cap="none" strike="noStrike">
                <a:solidFill>
                  <a:srgbClr val="0B246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pic>
          <p:nvPicPr>
            <p:cNvPr descr="NET_horizontal_fullcolor.png" id="316" name="Google Shape;316;p6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70162" y="2273811"/>
              <a:ext cx="335703" cy="1831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sp>
        <p:nvSpPr>
          <p:cNvPr id="317" name="Google Shape;317;p63"/>
          <p:cNvSpPr txBox="1"/>
          <p:nvPr/>
        </p:nvSpPr>
        <p:spPr>
          <a:xfrm>
            <a:off x="874439" y="3371361"/>
            <a:ext cx="1061509" cy="219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bwanif 10.88.88.77</a:t>
            </a:r>
            <a:endParaRPr/>
          </a:p>
        </p:txBody>
      </p:sp>
      <p:pic>
        <p:nvPicPr>
          <p:cNvPr id="318" name="Google Shape;318;p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7675" y="3482079"/>
            <a:ext cx="529410" cy="529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63"/>
          <p:cNvPicPr preferRelativeResize="0"/>
          <p:nvPr/>
        </p:nvPicPr>
        <p:blipFill rotWithShape="1">
          <a:blip r:embed="rId4">
            <a:alphaModFix/>
          </a:blip>
          <a:srcRect b="48507" l="58279" r="16540" t="13087"/>
          <a:stretch/>
        </p:blipFill>
        <p:spPr>
          <a:xfrm>
            <a:off x="6452943" y="3855215"/>
            <a:ext cx="138873" cy="96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0" name="Google Shape;320;p63"/>
          <p:cNvCxnSpPr>
            <a:stCxn id="318" idx="3"/>
            <a:endCxn id="321" idx="1"/>
          </p:cNvCxnSpPr>
          <p:nvPr/>
        </p:nvCxnSpPr>
        <p:spPr>
          <a:xfrm flipH="1" rot="10800000">
            <a:off x="6787085" y="3745584"/>
            <a:ext cx="381000" cy="12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21" name="Google Shape;321;p6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68019" y="3599006"/>
            <a:ext cx="276225" cy="293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2" name="Google Shape;322;p63"/>
          <p:cNvCxnSpPr/>
          <p:nvPr/>
        </p:nvCxnSpPr>
        <p:spPr>
          <a:xfrm>
            <a:off x="7444244" y="3756475"/>
            <a:ext cx="419027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63"/>
          <p:cNvSpPr txBox="1"/>
          <p:nvPr/>
        </p:nvSpPr>
        <p:spPr>
          <a:xfrm>
            <a:off x="6129197" y="4020322"/>
            <a:ext cx="806459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SDWAN Hub 1</a:t>
            </a:r>
            <a:endParaRPr/>
          </a:p>
        </p:txBody>
      </p:sp>
      <p:sp>
        <p:nvSpPr>
          <p:cNvPr id="324" name="Google Shape;324;p63"/>
          <p:cNvSpPr txBox="1"/>
          <p:nvPr/>
        </p:nvSpPr>
        <p:spPr>
          <a:xfrm>
            <a:off x="6476729" y="3288391"/>
            <a:ext cx="1568058" cy="219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  BWAN HUB &lt;-- 10.88.88.0/24</a:t>
            </a:r>
            <a:endParaRPr/>
          </a:p>
        </p:txBody>
      </p:sp>
      <p:cxnSp>
        <p:nvCxnSpPr>
          <p:cNvPr id="325" name="Google Shape;325;p63"/>
          <p:cNvCxnSpPr>
            <a:endCxn id="326" idx="1"/>
          </p:cNvCxnSpPr>
          <p:nvPr/>
        </p:nvCxnSpPr>
        <p:spPr>
          <a:xfrm flipH="1" rot="10800000">
            <a:off x="6684525" y="2122585"/>
            <a:ext cx="381000" cy="12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26" name="Google Shape;326;p6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65525" y="1975997"/>
            <a:ext cx="276225" cy="293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7" name="Google Shape;327;p63"/>
          <p:cNvCxnSpPr/>
          <p:nvPr/>
        </p:nvCxnSpPr>
        <p:spPr>
          <a:xfrm>
            <a:off x="7341750" y="2133466"/>
            <a:ext cx="419027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63"/>
          <p:cNvSpPr txBox="1"/>
          <p:nvPr/>
        </p:nvSpPr>
        <p:spPr>
          <a:xfrm>
            <a:off x="6026703" y="2397313"/>
            <a:ext cx="806459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Publisher</a:t>
            </a:r>
            <a:endParaRPr/>
          </a:p>
        </p:txBody>
      </p:sp>
      <p:pic>
        <p:nvPicPr>
          <p:cNvPr id="329" name="Google Shape;329;p6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68526" y="1876901"/>
            <a:ext cx="375067" cy="135887"/>
          </a:xfrm>
          <a:prstGeom prst="rect">
            <a:avLst/>
          </a:prstGeom>
          <a:solidFill>
            <a:srgbClr val="FFC000">
              <a:alpha val="12549"/>
            </a:srgbClr>
          </a:solidFill>
          <a:ln>
            <a:noFill/>
          </a:ln>
        </p:spPr>
      </p:pic>
      <p:pic>
        <p:nvPicPr>
          <p:cNvPr id="330" name="Google Shape;330;p6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68526" y="2042373"/>
            <a:ext cx="375067" cy="135887"/>
          </a:xfrm>
          <a:prstGeom prst="rect">
            <a:avLst/>
          </a:prstGeom>
          <a:solidFill>
            <a:srgbClr val="FFC000">
              <a:alpha val="12549"/>
            </a:srgbClr>
          </a:solidFill>
          <a:ln>
            <a:noFill/>
          </a:ln>
        </p:spPr>
      </p:pic>
      <p:pic>
        <p:nvPicPr>
          <p:cNvPr id="331" name="Google Shape;331;p6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68526" y="2220215"/>
            <a:ext cx="375067" cy="135887"/>
          </a:xfrm>
          <a:prstGeom prst="rect">
            <a:avLst/>
          </a:prstGeom>
          <a:solidFill>
            <a:srgbClr val="FFC000">
              <a:alpha val="12549"/>
            </a:srgbClr>
          </a:solidFill>
          <a:ln>
            <a:noFill/>
          </a:ln>
        </p:spPr>
      </p:pic>
      <p:cxnSp>
        <p:nvCxnSpPr>
          <p:cNvPr id="332" name="Google Shape;332;p63"/>
          <p:cNvCxnSpPr/>
          <p:nvPr/>
        </p:nvCxnSpPr>
        <p:spPr>
          <a:xfrm flipH="1">
            <a:off x="4566769" y="2122585"/>
            <a:ext cx="1594800" cy="625200"/>
          </a:xfrm>
          <a:prstGeom prst="bentConnector3">
            <a:avLst>
              <a:gd fmla="val 38033" name="adj1"/>
            </a:avLst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p63"/>
          <p:cNvCxnSpPr/>
          <p:nvPr/>
        </p:nvCxnSpPr>
        <p:spPr>
          <a:xfrm rot="10800000">
            <a:off x="4591052" y="2978947"/>
            <a:ext cx="1595400" cy="765600"/>
          </a:xfrm>
          <a:prstGeom prst="bentConnector3">
            <a:avLst>
              <a:gd fmla="val 38036" name="adj1"/>
            </a:avLst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63"/>
          <p:cNvSpPr txBox="1"/>
          <p:nvPr/>
        </p:nvSpPr>
        <p:spPr>
          <a:xfrm>
            <a:off x="7646448" y="2356131"/>
            <a:ext cx="68060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Private Applications</a:t>
            </a:r>
            <a:endParaRPr/>
          </a:p>
        </p:txBody>
      </p:sp>
      <p:cxnSp>
        <p:nvCxnSpPr>
          <p:cNvPr id="335" name="Google Shape;335;p63"/>
          <p:cNvCxnSpPr/>
          <p:nvPr/>
        </p:nvCxnSpPr>
        <p:spPr>
          <a:xfrm>
            <a:off x="1637969" y="2957374"/>
            <a:ext cx="1331164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p63"/>
          <p:cNvSpPr/>
          <p:nvPr/>
        </p:nvSpPr>
        <p:spPr>
          <a:xfrm>
            <a:off x="1669774" y="3005590"/>
            <a:ext cx="4587902" cy="900642"/>
          </a:xfrm>
          <a:custGeom>
            <a:rect b="b" l="l" r="r" t="t"/>
            <a:pathLst>
              <a:path extrusionOk="0" h="900642" w="4587902">
                <a:moveTo>
                  <a:pt x="0" y="0"/>
                </a:moveTo>
                <a:lnTo>
                  <a:pt x="3021496" y="7951"/>
                </a:lnTo>
                <a:cubicBezTo>
                  <a:pt x="3653625" y="27829"/>
                  <a:pt x="3656275" y="-19878"/>
                  <a:pt x="3792772" y="119270"/>
                </a:cubicBezTo>
                <a:cubicBezTo>
                  <a:pt x="3929269" y="258418"/>
                  <a:pt x="3707958" y="728869"/>
                  <a:pt x="3840480" y="842838"/>
                </a:cubicBezTo>
                <a:cubicBezTo>
                  <a:pt x="3973002" y="956807"/>
                  <a:pt x="4280452" y="879944"/>
                  <a:pt x="4587902" y="803082"/>
                </a:cubicBezTo>
              </a:path>
            </a:pathLst>
          </a:custGeom>
          <a:noFill/>
          <a:ln cap="flat" cmpd="sng" w="9525">
            <a:solidFill>
              <a:srgbClr val="00B05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63"/>
          <p:cNvSpPr/>
          <p:nvPr/>
        </p:nvSpPr>
        <p:spPr>
          <a:xfrm>
            <a:off x="1717482" y="2520561"/>
            <a:ext cx="2107095" cy="302149"/>
          </a:xfrm>
          <a:custGeom>
            <a:rect b="b" l="l" r="r" t="t"/>
            <a:pathLst>
              <a:path extrusionOk="0" h="302149" w="2107095">
                <a:moveTo>
                  <a:pt x="0" y="302149"/>
                </a:moveTo>
                <a:cubicBezTo>
                  <a:pt x="639417" y="283596"/>
                  <a:pt x="1278835" y="265043"/>
                  <a:pt x="1630017" y="214685"/>
                </a:cubicBezTo>
                <a:cubicBezTo>
                  <a:pt x="1981199" y="164327"/>
                  <a:pt x="2044147" y="82163"/>
                  <a:pt x="2107095" y="0"/>
                </a:cubicBezTo>
              </a:path>
            </a:pathLst>
          </a:custGeom>
          <a:noFill/>
          <a:ln cap="flat" cmpd="sng" w="952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light&#10;&#10;Description automatically generated" id="338" name="Google Shape;338;p6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1704" y="964824"/>
            <a:ext cx="1491527" cy="998851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63"/>
          <p:cNvSpPr txBox="1"/>
          <p:nvPr/>
        </p:nvSpPr>
        <p:spPr>
          <a:xfrm>
            <a:off x="857884" y="1531581"/>
            <a:ext cx="6897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5BD"/>
              </a:buClr>
              <a:buSzPts val="800"/>
              <a:buFont typeface="Arial"/>
              <a:buNone/>
            </a:pPr>
            <a:r>
              <a:rPr b="0" i="0" lang="en-US" sz="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SASE Orchestrator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559"/>
              </a:buClr>
              <a:buSzPts val="8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63"/>
          <p:cNvSpPr txBox="1"/>
          <p:nvPr/>
        </p:nvSpPr>
        <p:spPr>
          <a:xfrm>
            <a:off x="1358117" y="1531587"/>
            <a:ext cx="587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5BD"/>
              </a:buClr>
              <a:buSzPts val="800"/>
              <a:buFont typeface="Arial"/>
              <a:buNone/>
            </a:pPr>
            <a:r>
              <a:rPr b="0" i="0" lang="en-US" sz="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SASE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5BD"/>
              </a:buClr>
              <a:buSzPts val="800"/>
              <a:buFont typeface="Arial"/>
              <a:buNone/>
            </a:pPr>
            <a:r>
              <a:rPr b="0" i="0" lang="en-US" sz="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Controller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559"/>
              </a:buClr>
              <a:buSzPts val="8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1" name="Google Shape;341;p6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534974" y="1361486"/>
            <a:ext cx="233675" cy="203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6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79304" y="1361486"/>
            <a:ext cx="233675" cy="203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3" name="Google Shape;343;p63"/>
          <p:cNvCxnSpPr/>
          <p:nvPr/>
        </p:nvCxnSpPr>
        <p:spPr>
          <a:xfrm rot="10800000">
            <a:off x="1438347" y="1810866"/>
            <a:ext cx="0" cy="984318"/>
          </a:xfrm>
          <a:prstGeom prst="straightConnector1">
            <a:avLst/>
          </a:prstGeom>
          <a:noFill/>
          <a:ln cap="flat" cmpd="sng" w="12700">
            <a:solidFill>
              <a:srgbClr val="2A2B2D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4" name="Google Shape;344;p63"/>
          <p:cNvCxnSpPr/>
          <p:nvPr/>
        </p:nvCxnSpPr>
        <p:spPr>
          <a:xfrm>
            <a:off x="2924818" y="4230205"/>
            <a:ext cx="484870" cy="0"/>
          </a:xfrm>
          <a:prstGeom prst="straightConnector1">
            <a:avLst/>
          </a:prstGeom>
          <a:noFill/>
          <a:ln cap="flat" cmpd="sng" w="12700">
            <a:solidFill>
              <a:srgbClr val="2A2B2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45" name="Google Shape;345;p63"/>
          <p:cNvSpPr txBox="1"/>
          <p:nvPr/>
        </p:nvSpPr>
        <p:spPr>
          <a:xfrm>
            <a:off x="3391802" y="4128507"/>
            <a:ext cx="1501815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Management Plane Connection</a:t>
            </a:r>
            <a:endParaRPr/>
          </a:p>
        </p:txBody>
      </p:sp>
      <p:grpSp>
        <p:nvGrpSpPr>
          <p:cNvPr id="346" name="Google Shape;346;p63"/>
          <p:cNvGrpSpPr/>
          <p:nvPr/>
        </p:nvGrpSpPr>
        <p:grpSpPr>
          <a:xfrm>
            <a:off x="7825178" y="3521029"/>
            <a:ext cx="455906" cy="455906"/>
            <a:chOff x="1531294" y="3742718"/>
            <a:chExt cx="570194" cy="570194"/>
          </a:xfrm>
        </p:grpSpPr>
        <p:pic>
          <p:nvPicPr>
            <p:cNvPr id="347" name="Google Shape;347;p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31294" y="3742718"/>
              <a:ext cx="570194" cy="5701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63"/>
            <p:cNvSpPr/>
            <p:nvPr/>
          </p:nvSpPr>
          <p:spPr>
            <a:xfrm>
              <a:off x="1652760" y="3895530"/>
              <a:ext cx="309480" cy="23288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9" name="Google Shape;349;p63"/>
          <p:cNvSpPr txBox="1"/>
          <p:nvPr/>
        </p:nvSpPr>
        <p:spPr>
          <a:xfrm>
            <a:off x="7703960" y="3916811"/>
            <a:ext cx="730037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RDP Station</a:t>
            </a:r>
            <a:endParaRPr/>
          </a:p>
        </p:txBody>
      </p:sp>
      <p:grpSp>
        <p:nvGrpSpPr>
          <p:cNvPr id="350" name="Google Shape;350;p63"/>
          <p:cNvGrpSpPr/>
          <p:nvPr/>
        </p:nvGrpSpPr>
        <p:grpSpPr>
          <a:xfrm>
            <a:off x="6255312" y="1910852"/>
            <a:ext cx="374609" cy="374609"/>
            <a:chOff x="8113166" y="1939465"/>
            <a:chExt cx="374609" cy="374609"/>
          </a:xfrm>
        </p:grpSpPr>
        <p:sp>
          <p:nvSpPr>
            <p:cNvPr id="351" name="Google Shape;351;p63"/>
            <p:cNvSpPr/>
            <p:nvPr/>
          </p:nvSpPr>
          <p:spPr>
            <a:xfrm>
              <a:off x="8113166" y="1939465"/>
              <a:ext cx="374609" cy="374609"/>
            </a:xfrm>
            <a:prstGeom prst="roundRect">
              <a:avLst>
                <a:gd fmla="val 11980" name="adj"/>
              </a:avLst>
            </a:prstGeom>
            <a:noFill/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2" name="Google Shape;352;p63"/>
            <p:cNvPicPr preferRelativeResize="0"/>
            <p:nvPr/>
          </p:nvPicPr>
          <p:blipFill rotWithShape="1">
            <a:blip r:embed="rId4">
              <a:alphaModFix/>
            </a:blip>
            <a:srcRect b="48507" l="58279" r="16540" t="13087"/>
            <a:stretch/>
          </p:blipFill>
          <p:spPr>
            <a:xfrm>
              <a:off x="8157539" y="2026817"/>
              <a:ext cx="285861" cy="1981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3" name="Google Shape;353;p63"/>
          <p:cNvSpPr/>
          <p:nvPr/>
        </p:nvSpPr>
        <p:spPr>
          <a:xfrm>
            <a:off x="4818490" y="1979406"/>
            <a:ext cx="1343771" cy="477969"/>
          </a:xfrm>
          <a:custGeom>
            <a:rect b="b" l="l" r="r" t="t"/>
            <a:pathLst>
              <a:path extrusionOk="0" h="477969" w="1343771">
                <a:moveTo>
                  <a:pt x="1343771" y="16369"/>
                </a:moveTo>
                <a:cubicBezTo>
                  <a:pt x="1069451" y="-1521"/>
                  <a:pt x="795131" y="-19411"/>
                  <a:pt x="675861" y="48175"/>
                </a:cubicBezTo>
                <a:cubicBezTo>
                  <a:pt x="556591" y="115761"/>
                  <a:pt x="740796" y="351650"/>
                  <a:pt x="628153" y="421886"/>
                </a:cubicBezTo>
                <a:cubicBezTo>
                  <a:pt x="515510" y="492122"/>
                  <a:pt x="257755" y="480858"/>
                  <a:pt x="0" y="469594"/>
                </a:cubicBezTo>
              </a:path>
            </a:pathLst>
          </a:custGeom>
          <a:noFill/>
          <a:ln cap="flat" cmpd="sng" w="952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63"/>
          <p:cNvCxnSpPr>
            <a:stCxn id="355" idx="3"/>
          </p:cNvCxnSpPr>
          <p:nvPr/>
        </p:nvCxnSpPr>
        <p:spPr>
          <a:xfrm rot="10800000">
            <a:off x="6771270" y="4220298"/>
            <a:ext cx="664200" cy="544500"/>
          </a:xfrm>
          <a:prstGeom prst="straightConnector1">
            <a:avLst/>
          </a:prstGeom>
          <a:noFill/>
          <a:ln cap="flat" cmpd="sng" w="12700">
            <a:solidFill>
              <a:srgbClr val="FF82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63"/>
          <p:cNvCxnSpPr>
            <a:stCxn id="355" idx="1"/>
          </p:cNvCxnSpPr>
          <p:nvPr/>
        </p:nvCxnSpPr>
        <p:spPr>
          <a:xfrm flipH="1" rot="10800000">
            <a:off x="5665815" y="4243698"/>
            <a:ext cx="693900" cy="521100"/>
          </a:xfrm>
          <a:prstGeom prst="straightConnector1">
            <a:avLst/>
          </a:prstGeom>
          <a:noFill/>
          <a:ln cap="flat" cmpd="sng" w="12700">
            <a:solidFill>
              <a:srgbClr val="FF82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" name="Google Shape;357;p63"/>
          <p:cNvSpPr txBox="1"/>
          <p:nvPr/>
        </p:nvSpPr>
        <p:spPr>
          <a:xfrm>
            <a:off x="6104766" y="4105322"/>
            <a:ext cx="9384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8200"/>
                </a:solidFill>
                <a:latin typeface="Arial"/>
                <a:ea typeface="Arial"/>
                <a:cs typeface="Arial"/>
                <a:sym typeface="Arial"/>
              </a:rPr>
              <a:t>Policy</a:t>
            </a:r>
            <a:endParaRPr b="0" i="0" sz="900" u="none" cap="none" strike="noStrike">
              <a:solidFill>
                <a:srgbClr val="FF82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63"/>
          <p:cNvSpPr txBox="1"/>
          <p:nvPr/>
        </p:nvSpPr>
        <p:spPr>
          <a:xfrm>
            <a:off x="5665815" y="4690837"/>
            <a:ext cx="1769655" cy="14792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5565A"/>
                </a:solidFill>
                <a:latin typeface="Arial"/>
                <a:ea typeface="Arial"/>
                <a:cs typeface="Arial"/>
                <a:sym typeface="Arial"/>
              </a:rPr>
              <a:t>Admin can RDP to User 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63"/>
          <p:cNvSpPr txBox="1"/>
          <p:nvPr/>
        </p:nvSpPr>
        <p:spPr>
          <a:xfrm>
            <a:off x="1986165" y="799630"/>
            <a:ext cx="2959966" cy="27789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5565A"/>
                </a:solidFill>
                <a:latin typeface="Arial"/>
                <a:ea typeface="Arial"/>
                <a:cs typeface="Arial"/>
                <a:sym typeface="Arial"/>
              </a:rPr>
              <a:t>User 1 can access to Private App via Publisher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65A"/>
                </a:solidFill>
                <a:latin typeface="Arial"/>
                <a:ea typeface="Arial"/>
                <a:cs typeface="Arial"/>
                <a:sym typeface="Arial"/>
              </a:rPr>
              <a:t>User 1 can access to SaaS and Web Applications via the SWG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9" name="Google Shape;359;p63"/>
          <p:cNvCxnSpPr/>
          <p:nvPr/>
        </p:nvCxnSpPr>
        <p:spPr>
          <a:xfrm rot="10800000">
            <a:off x="1986165" y="1091758"/>
            <a:ext cx="2147936" cy="946019"/>
          </a:xfrm>
          <a:prstGeom prst="straightConnector1">
            <a:avLst/>
          </a:prstGeom>
          <a:noFill/>
          <a:ln cap="flat" cmpd="sng" w="12700">
            <a:solidFill>
              <a:srgbClr val="FF82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63"/>
          <p:cNvCxnSpPr/>
          <p:nvPr/>
        </p:nvCxnSpPr>
        <p:spPr>
          <a:xfrm flipH="1" rot="10800000">
            <a:off x="4591118" y="1077524"/>
            <a:ext cx="355013" cy="917618"/>
          </a:xfrm>
          <a:prstGeom prst="straightConnector1">
            <a:avLst/>
          </a:prstGeom>
          <a:noFill/>
          <a:ln cap="flat" cmpd="sng" w="12700">
            <a:solidFill>
              <a:srgbClr val="FF82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63"/>
          <p:cNvSpPr txBox="1"/>
          <p:nvPr/>
        </p:nvSpPr>
        <p:spPr>
          <a:xfrm>
            <a:off x="3947005" y="1950234"/>
            <a:ext cx="9384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8200"/>
                </a:solidFill>
                <a:latin typeface="Arial"/>
                <a:ea typeface="Arial"/>
                <a:cs typeface="Arial"/>
                <a:sym typeface="Arial"/>
              </a:rPr>
              <a:t>Policy</a:t>
            </a:r>
            <a:endParaRPr b="0" i="0" sz="700" u="none" cap="none" strike="noStrike">
              <a:solidFill>
                <a:srgbClr val="FF82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2" name="Google Shape;362;p63"/>
          <p:cNvCxnSpPr/>
          <p:nvPr/>
        </p:nvCxnSpPr>
        <p:spPr>
          <a:xfrm flipH="1" rot="10800000">
            <a:off x="4731026" y="1378343"/>
            <a:ext cx="789281" cy="778469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63" name="Google Shape;363;p6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327606" y="702235"/>
            <a:ext cx="1226568" cy="821569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63"/>
          <p:cNvSpPr txBox="1"/>
          <p:nvPr/>
        </p:nvSpPr>
        <p:spPr>
          <a:xfrm>
            <a:off x="5611911" y="950861"/>
            <a:ext cx="601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5BD"/>
              </a:buClr>
              <a:buSzPts val="800"/>
              <a:buFont typeface="Arial"/>
              <a:buNone/>
            </a:pPr>
            <a:r>
              <a:rPr b="0" i="0" lang="en-US" sz="1000" u="none" cap="none" strike="noStrike">
                <a:solidFill>
                  <a:srgbClr val="00246B"/>
                </a:solidFill>
                <a:latin typeface="Roboto"/>
                <a:ea typeface="Roboto"/>
                <a:cs typeface="Roboto"/>
                <a:sym typeface="Roboto"/>
              </a:rPr>
              <a:t>SaaS</a:t>
            </a:r>
            <a:endParaRPr b="0" i="0" sz="1000" u="none" cap="none" strike="noStrike">
              <a:solidFill>
                <a:srgbClr val="0024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5" name="Google Shape;365;p6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327606" y="270189"/>
            <a:ext cx="1226568" cy="821569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63"/>
          <p:cNvSpPr txBox="1"/>
          <p:nvPr/>
        </p:nvSpPr>
        <p:spPr>
          <a:xfrm>
            <a:off x="5611911" y="562556"/>
            <a:ext cx="601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5BD"/>
              </a:buClr>
              <a:buSzPts val="800"/>
              <a:buFont typeface="Arial"/>
              <a:buNone/>
            </a:pPr>
            <a:r>
              <a:rPr b="0" i="0" lang="en-US" sz="1000" u="none" cap="none" strike="noStrike">
                <a:solidFill>
                  <a:srgbClr val="00246B"/>
                </a:solidFill>
                <a:latin typeface="Roboto"/>
                <a:ea typeface="Roboto"/>
                <a:cs typeface="Roboto"/>
                <a:sym typeface="Roboto"/>
              </a:rPr>
              <a:t>Web</a:t>
            </a:r>
            <a:endParaRPr b="0" i="0" sz="1000" u="none" cap="none" strike="noStrike">
              <a:solidFill>
                <a:srgbClr val="00246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559"/>
              </a:buClr>
              <a:buSzPts val="8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24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Media Resources | Akamai" id="367" name="Google Shape;367;p63"/>
          <p:cNvPicPr preferRelativeResize="0"/>
          <p:nvPr/>
        </p:nvPicPr>
        <p:blipFill rotWithShape="1">
          <a:blip r:embed="rId13">
            <a:alphaModFix/>
          </a:blip>
          <a:srcRect b="21671" l="12582" r="12431" t="22455"/>
          <a:stretch/>
        </p:blipFill>
        <p:spPr>
          <a:xfrm>
            <a:off x="7172460" y="637759"/>
            <a:ext cx="298174" cy="1282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loudflare logo" id="368" name="Google Shape;368;p6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690012" y="626621"/>
            <a:ext cx="363426" cy="119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fastly logo" id="369" name="Google Shape;369;p6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614612" y="534039"/>
            <a:ext cx="207113" cy="832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dgecast" id="370" name="Google Shape;370;p6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058483" y="526040"/>
            <a:ext cx="326810" cy="75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6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021305" y="989931"/>
            <a:ext cx="246069" cy="1721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ervicenow logo" id="372" name="Google Shape;372;p63"/>
          <p:cNvPicPr preferRelativeResize="0"/>
          <p:nvPr/>
        </p:nvPicPr>
        <p:blipFill rotWithShape="1">
          <a:blip r:embed="rId18">
            <a:alphaModFix/>
          </a:blip>
          <a:srcRect b="29351" l="0" r="0" t="35033"/>
          <a:stretch/>
        </p:blipFill>
        <p:spPr>
          <a:xfrm>
            <a:off x="6636498" y="1149072"/>
            <a:ext cx="417622" cy="936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box logo" id="373" name="Google Shape;373;p6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250664" y="1135612"/>
            <a:ext cx="197625" cy="10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6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560172" y="1004506"/>
            <a:ext cx="390929" cy="76336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63"/>
          <p:cNvSpPr/>
          <p:nvPr/>
        </p:nvSpPr>
        <p:spPr>
          <a:xfrm>
            <a:off x="1684198" y="1288765"/>
            <a:ext cx="3760967" cy="1463134"/>
          </a:xfrm>
          <a:custGeom>
            <a:rect b="b" l="l" r="r" t="t"/>
            <a:pathLst>
              <a:path extrusionOk="0" h="1463134" w="3760967">
                <a:moveTo>
                  <a:pt x="0" y="1463040"/>
                </a:moveTo>
                <a:cubicBezTo>
                  <a:pt x="587071" y="1463702"/>
                  <a:pt x="1174143" y="1464365"/>
                  <a:pt x="1685677" y="1335819"/>
                </a:cubicBezTo>
                <a:cubicBezTo>
                  <a:pt x="2197211" y="1207273"/>
                  <a:pt x="2723322" y="914399"/>
                  <a:pt x="3069203" y="691763"/>
                </a:cubicBezTo>
                <a:cubicBezTo>
                  <a:pt x="3415084" y="469127"/>
                  <a:pt x="3588025" y="234563"/>
                  <a:pt x="3760967" y="0"/>
                </a:cubicBezTo>
              </a:path>
            </a:pathLst>
          </a:custGeom>
          <a:noFill/>
          <a:ln cap="flat" cmpd="sng" w="254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63"/>
          <p:cNvSpPr/>
          <p:nvPr/>
        </p:nvSpPr>
        <p:spPr>
          <a:xfrm>
            <a:off x="1725433" y="2184209"/>
            <a:ext cx="5947576" cy="733917"/>
          </a:xfrm>
          <a:custGeom>
            <a:rect b="b" l="l" r="r" t="t"/>
            <a:pathLst>
              <a:path extrusionOk="0" h="733917" w="5947576">
                <a:moveTo>
                  <a:pt x="0" y="733917"/>
                </a:moveTo>
                <a:cubicBezTo>
                  <a:pt x="793805" y="643802"/>
                  <a:pt x="1587610" y="553687"/>
                  <a:pt x="2075290" y="471524"/>
                </a:cubicBezTo>
                <a:cubicBezTo>
                  <a:pt x="2562970" y="389361"/>
                  <a:pt x="2536466" y="313823"/>
                  <a:pt x="2926080" y="240936"/>
                </a:cubicBezTo>
                <a:cubicBezTo>
                  <a:pt x="3315694" y="168049"/>
                  <a:pt x="3909391" y="73958"/>
                  <a:pt x="4412974" y="34202"/>
                </a:cubicBezTo>
                <a:cubicBezTo>
                  <a:pt x="4916557" y="-5555"/>
                  <a:pt x="5432066" y="-1579"/>
                  <a:pt x="5947576" y="2397"/>
                </a:cubicBezTo>
              </a:path>
            </a:pathLst>
          </a:custGeom>
          <a:noFill/>
          <a:ln cap="flat" cmpd="sng" w="254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63"/>
          <p:cNvSpPr/>
          <p:nvPr/>
        </p:nvSpPr>
        <p:spPr>
          <a:xfrm>
            <a:off x="1725433" y="3066426"/>
            <a:ext cx="6082748" cy="934119"/>
          </a:xfrm>
          <a:custGeom>
            <a:rect b="b" l="l" r="r" t="t"/>
            <a:pathLst>
              <a:path extrusionOk="0" h="934119" w="6082748">
                <a:moveTo>
                  <a:pt x="6082748" y="789954"/>
                </a:moveTo>
                <a:cubicBezTo>
                  <a:pt x="5302195" y="893983"/>
                  <a:pt x="4521642" y="998012"/>
                  <a:pt x="4094922" y="885369"/>
                </a:cubicBezTo>
                <a:cubicBezTo>
                  <a:pt x="3668202" y="772726"/>
                  <a:pt x="4204915" y="258542"/>
                  <a:pt x="3522428" y="114093"/>
                </a:cubicBezTo>
                <a:cubicBezTo>
                  <a:pt x="2839941" y="-30356"/>
                  <a:pt x="1419970" y="-5840"/>
                  <a:pt x="0" y="18677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8" name="Google Shape;378;p63"/>
          <p:cNvCxnSpPr/>
          <p:nvPr/>
        </p:nvCxnSpPr>
        <p:spPr>
          <a:xfrm>
            <a:off x="2925762" y="4828204"/>
            <a:ext cx="484870" cy="0"/>
          </a:xfrm>
          <a:prstGeom prst="straightConnector1">
            <a:avLst/>
          </a:prstGeom>
          <a:noFill/>
          <a:ln cap="flat" cmpd="sng" w="127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" name="Google Shape;379;p63"/>
          <p:cNvSpPr txBox="1"/>
          <p:nvPr/>
        </p:nvSpPr>
        <p:spPr>
          <a:xfrm>
            <a:off x="3461653" y="4720461"/>
            <a:ext cx="1501815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Client to Server Connection</a:t>
            </a:r>
            <a:endParaRPr/>
          </a:p>
        </p:txBody>
      </p:sp>
      <p:cxnSp>
        <p:nvCxnSpPr>
          <p:cNvPr id="380" name="Google Shape;380;p63"/>
          <p:cNvCxnSpPr/>
          <p:nvPr/>
        </p:nvCxnSpPr>
        <p:spPr>
          <a:xfrm>
            <a:off x="2925762" y="5009204"/>
            <a:ext cx="484870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1" name="Google Shape;381;p63"/>
          <p:cNvSpPr txBox="1"/>
          <p:nvPr/>
        </p:nvSpPr>
        <p:spPr>
          <a:xfrm>
            <a:off x="3461653" y="4901461"/>
            <a:ext cx="1501815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Server to client Connection</a:t>
            </a:r>
            <a:endParaRPr/>
          </a:p>
        </p:txBody>
      </p:sp>
      <p:sp>
        <p:nvSpPr>
          <p:cNvPr id="382" name="Google Shape;382;p63"/>
          <p:cNvSpPr txBox="1"/>
          <p:nvPr>
            <p:ph type="title"/>
          </p:nvPr>
        </p:nvSpPr>
        <p:spPr>
          <a:xfrm>
            <a:off x="457006" y="345553"/>
            <a:ext cx="80429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Use cases - UC 2: ZTNA Next + SWG</a:t>
            </a:r>
            <a:endParaRPr/>
          </a:p>
        </p:txBody>
      </p:sp>
      <p:sp>
        <p:nvSpPr>
          <p:cNvPr id="383" name="Google Shape;383;p63"/>
          <p:cNvSpPr/>
          <p:nvPr/>
        </p:nvSpPr>
        <p:spPr>
          <a:xfrm>
            <a:off x="0" y="0"/>
            <a:ext cx="1665300" cy="271500"/>
          </a:xfrm>
          <a:prstGeom prst="homePlate">
            <a:avLst>
              <a:gd fmla="val 50000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Agreement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63"/>
          <p:cNvSpPr/>
          <p:nvPr/>
        </p:nvSpPr>
        <p:spPr>
          <a:xfrm>
            <a:off x="1747575" y="0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Pre-Deployment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63"/>
          <p:cNvSpPr/>
          <p:nvPr/>
        </p:nvSpPr>
        <p:spPr>
          <a:xfrm>
            <a:off x="361725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b="0" i="0" sz="12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63"/>
          <p:cNvSpPr/>
          <p:nvPr/>
        </p:nvSpPr>
        <p:spPr>
          <a:xfrm>
            <a:off x="5486925" y="-1"/>
            <a:ext cx="1787400" cy="271500"/>
          </a:xfrm>
          <a:prstGeom prst="chevron">
            <a:avLst>
              <a:gd fmla="val 50000" name="adj"/>
            </a:avLst>
          </a:prstGeom>
          <a:solidFill>
            <a:srgbClr val="9DE2E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Results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63"/>
          <p:cNvSpPr/>
          <p:nvPr/>
        </p:nvSpPr>
        <p:spPr>
          <a:xfrm>
            <a:off x="735660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4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Conclusion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4"/>
          <p:cNvSpPr txBox="1"/>
          <p:nvPr/>
        </p:nvSpPr>
        <p:spPr>
          <a:xfrm>
            <a:off x="912107" y="2922452"/>
            <a:ext cx="1195181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User 1</a:t>
            </a:r>
            <a:endParaRPr/>
          </a:p>
        </p:txBody>
      </p:sp>
      <p:sp>
        <p:nvSpPr>
          <p:cNvPr id="393" name="Google Shape;393;p64"/>
          <p:cNvSpPr/>
          <p:nvPr/>
        </p:nvSpPr>
        <p:spPr>
          <a:xfrm>
            <a:off x="6067440" y="1425423"/>
            <a:ext cx="2593391" cy="993708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64"/>
          <p:cNvSpPr txBox="1"/>
          <p:nvPr/>
        </p:nvSpPr>
        <p:spPr>
          <a:xfrm>
            <a:off x="7782064" y="1132116"/>
            <a:ext cx="962123" cy="251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Data Center 1</a:t>
            </a:r>
            <a:endParaRPr/>
          </a:p>
        </p:txBody>
      </p:sp>
      <p:sp>
        <p:nvSpPr>
          <p:cNvPr id="395" name="Google Shape;395;p64"/>
          <p:cNvSpPr/>
          <p:nvPr/>
        </p:nvSpPr>
        <p:spPr>
          <a:xfrm>
            <a:off x="3072500" y="2043661"/>
            <a:ext cx="1621985" cy="827756"/>
          </a:xfrm>
          <a:custGeom>
            <a:rect b="b" l="l" r="r" t="t"/>
            <a:pathLst>
              <a:path extrusionOk="0" h="1134830" w="2154823">
                <a:moveTo>
                  <a:pt x="1303975" y="0"/>
                </a:moveTo>
                <a:cubicBezTo>
                  <a:pt x="1524382" y="0"/>
                  <a:pt x="1707064" y="161518"/>
                  <a:pt x="1738536" y="372895"/>
                </a:cubicBezTo>
                <a:cubicBezTo>
                  <a:pt x="1749503" y="370002"/>
                  <a:pt x="1760774" y="369505"/>
                  <a:pt x="1772161" y="369505"/>
                </a:cubicBezTo>
                <a:cubicBezTo>
                  <a:pt x="1983499" y="369505"/>
                  <a:pt x="2154823" y="540829"/>
                  <a:pt x="2154823" y="752167"/>
                </a:cubicBezTo>
                <a:cubicBezTo>
                  <a:pt x="2154823" y="963505"/>
                  <a:pt x="1983499" y="1134829"/>
                  <a:pt x="1772161" y="1134829"/>
                </a:cubicBezTo>
                <a:lnTo>
                  <a:pt x="1765065" y="1134252"/>
                </a:lnTo>
                <a:cubicBezTo>
                  <a:pt x="1764130" y="1134809"/>
                  <a:pt x="1763168" y="1134830"/>
                  <a:pt x="1762200" y="1134830"/>
                </a:cubicBezTo>
                <a:lnTo>
                  <a:pt x="308458" y="1134830"/>
                </a:lnTo>
                <a:lnTo>
                  <a:pt x="290561" y="1131217"/>
                </a:lnTo>
                <a:cubicBezTo>
                  <a:pt x="278021" y="1133816"/>
                  <a:pt x="265070" y="1134829"/>
                  <a:pt x="251882" y="1134829"/>
                </a:cubicBezTo>
                <a:cubicBezTo>
                  <a:pt x="112771" y="1134829"/>
                  <a:pt x="0" y="1022058"/>
                  <a:pt x="0" y="882947"/>
                </a:cubicBezTo>
                <a:cubicBezTo>
                  <a:pt x="0" y="743836"/>
                  <a:pt x="112771" y="631065"/>
                  <a:pt x="251882" y="631065"/>
                </a:cubicBezTo>
                <a:cubicBezTo>
                  <a:pt x="273097" y="631065"/>
                  <a:pt x="293699" y="633688"/>
                  <a:pt x="313176" y="639451"/>
                </a:cubicBezTo>
                <a:cubicBezTo>
                  <a:pt x="308724" y="620089"/>
                  <a:pt x="307141" y="600023"/>
                  <a:pt x="307141" y="579587"/>
                </a:cubicBezTo>
                <a:cubicBezTo>
                  <a:pt x="307141" y="365660"/>
                  <a:pt x="480564" y="192237"/>
                  <a:pt x="694491" y="192237"/>
                </a:cubicBezTo>
                <a:cubicBezTo>
                  <a:pt x="772276" y="192237"/>
                  <a:pt x="844706" y="215165"/>
                  <a:pt x="905064" y="255135"/>
                </a:cubicBezTo>
                <a:cubicBezTo>
                  <a:pt x="974269" y="104188"/>
                  <a:pt x="1126955" y="0"/>
                  <a:pt x="1303975" y="0"/>
                </a:cubicBezTo>
                <a:close/>
              </a:path>
            </a:pathLst>
          </a:cu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B246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6" name="Google Shape;396;p64"/>
          <p:cNvSpPr txBox="1"/>
          <p:nvPr/>
        </p:nvSpPr>
        <p:spPr>
          <a:xfrm>
            <a:off x="3919250" y="2300378"/>
            <a:ext cx="675185" cy="250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B246B"/>
                </a:solidFill>
                <a:latin typeface="Trebuchet MS"/>
                <a:ea typeface="Trebuchet MS"/>
                <a:cs typeface="Trebuchet MS"/>
                <a:sym typeface="Trebuchet MS"/>
              </a:rPr>
              <a:t>Internet</a:t>
            </a:r>
            <a:endParaRPr b="0" i="0" sz="1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97" name="Google Shape;397;p64"/>
          <p:cNvGrpSpPr/>
          <p:nvPr/>
        </p:nvGrpSpPr>
        <p:grpSpPr>
          <a:xfrm>
            <a:off x="1235687" y="2415069"/>
            <a:ext cx="570194" cy="570194"/>
            <a:chOff x="1531294" y="3742718"/>
            <a:chExt cx="570194" cy="570194"/>
          </a:xfrm>
        </p:grpSpPr>
        <p:pic>
          <p:nvPicPr>
            <p:cNvPr id="398" name="Google Shape;398;p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31294" y="3742718"/>
              <a:ext cx="570194" cy="5701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9" name="Google Shape;399;p64"/>
            <p:cNvSpPr/>
            <p:nvPr/>
          </p:nvSpPr>
          <p:spPr>
            <a:xfrm>
              <a:off x="1652760" y="3895530"/>
              <a:ext cx="309480" cy="23288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00" name="Google Shape;400;p64"/>
          <p:cNvPicPr preferRelativeResize="0"/>
          <p:nvPr/>
        </p:nvPicPr>
        <p:blipFill rotWithShape="1">
          <a:blip r:embed="rId4">
            <a:alphaModFix/>
          </a:blip>
          <a:srcRect b="48507" l="58279" r="16540" t="13087"/>
          <a:stretch/>
        </p:blipFill>
        <p:spPr>
          <a:xfrm>
            <a:off x="1357153" y="2578158"/>
            <a:ext cx="302816" cy="2099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1" name="Google Shape;401;p64"/>
          <p:cNvCxnSpPr/>
          <p:nvPr/>
        </p:nvCxnSpPr>
        <p:spPr>
          <a:xfrm>
            <a:off x="3461782" y="4331079"/>
            <a:ext cx="484870" cy="0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02" name="Google Shape;402;p64"/>
          <p:cNvCxnSpPr/>
          <p:nvPr/>
        </p:nvCxnSpPr>
        <p:spPr>
          <a:xfrm>
            <a:off x="3461782" y="4533114"/>
            <a:ext cx="484870" cy="0"/>
          </a:xfrm>
          <a:prstGeom prst="straightConnector1">
            <a:avLst/>
          </a:prstGeom>
          <a:noFill/>
          <a:ln cap="flat" cmpd="sng" w="127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03" name="Google Shape;403;p64"/>
          <p:cNvSpPr txBox="1"/>
          <p:nvPr/>
        </p:nvSpPr>
        <p:spPr>
          <a:xfrm>
            <a:off x="3959367" y="4433086"/>
            <a:ext cx="767927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Tunnel to SSE</a:t>
            </a:r>
            <a:endParaRPr/>
          </a:p>
        </p:txBody>
      </p:sp>
      <p:sp>
        <p:nvSpPr>
          <p:cNvPr id="404" name="Google Shape;404;p64"/>
          <p:cNvSpPr txBox="1"/>
          <p:nvPr/>
        </p:nvSpPr>
        <p:spPr>
          <a:xfrm>
            <a:off x="3858461" y="4228824"/>
            <a:ext cx="1037568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SDWAN Overlay</a:t>
            </a:r>
            <a:endParaRPr/>
          </a:p>
        </p:txBody>
      </p:sp>
      <p:grpSp>
        <p:nvGrpSpPr>
          <p:cNvPr id="405" name="Google Shape;405;p64"/>
          <p:cNvGrpSpPr/>
          <p:nvPr/>
        </p:nvGrpSpPr>
        <p:grpSpPr>
          <a:xfrm>
            <a:off x="3825655" y="1658244"/>
            <a:ext cx="1133212" cy="578318"/>
            <a:chOff x="5958349" y="2061487"/>
            <a:chExt cx="1133212" cy="578318"/>
          </a:xfrm>
        </p:grpSpPr>
        <p:sp>
          <p:nvSpPr>
            <p:cNvPr id="406" name="Google Shape;406;p64"/>
            <p:cNvSpPr/>
            <p:nvPr/>
          </p:nvSpPr>
          <p:spPr>
            <a:xfrm>
              <a:off x="5958349" y="2061487"/>
              <a:ext cx="1133212" cy="578318"/>
            </a:xfrm>
            <a:custGeom>
              <a:rect b="b" l="l" r="r" t="t"/>
              <a:pathLst>
                <a:path extrusionOk="0" h="1134830" w="2154823">
                  <a:moveTo>
                    <a:pt x="1303975" y="0"/>
                  </a:moveTo>
                  <a:cubicBezTo>
                    <a:pt x="1524382" y="0"/>
                    <a:pt x="1707064" y="161518"/>
                    <a:pt x="1738536" y="372895"/>
                  </a:cubicBezTo>
                  <a:cubicBezTo>
                    <a:pt x="1749503" y="370002"/>
                    <a:pt x="1760774" y="369505"/>
                    <a:pt x="1772161" y="369505"/>
                  </a:cubicBezTo>
                  <a:cubicBezTo>
                    <a:pt x="1983499" y="369505"/>
                    <a:pt x="2154823" y="540829"/>
                    <a:pt x="2154823" y="752167"/>
                  </a:cubicBezTo>
                  <a:cubicBezTo>
                    <a:pt x="2154823" y="963505"/>
                    <a:pt x="1983499" y="1134829"/>
                    <a:pt x="1772161" y="1134829"/>
                  </a:cubicBezTo>
                  <a:lnTo>
                    <a:pt x="1765065" y="1134252"/>
                  </a:lnTo>
                  <a:cubicBezTo>
                    <a:pt x="1764130" y="1134809"/>
                    <a:pt x="1763168" y="1134830"/>
                    <a:pt x="1762200" y="1134830"/>
                  </a:cubicBezTo>
                  <a:lnTo>
                    <a:pt x="308458" y="1134830"/>
                  </a:lnTo>
                  <a:lnTo>
                    <a:pt x="290561" y="1131217"/>
                  </a:lnTo>
                  <a:cubicBezTo>
                    <a:pt x="278021" y="1133816"/>
                    <a:pt x="265070" y="1134829"/>
                    <a:pt x="251882" y="1134829"/>
                  </a:cubicBezTo>
                  <a:cubicBezTo>
                    <a:pt x="112771" y="1134829"/>
                    <a:pt x="0" y="1022058"/>
                    <a:pt x="0" y="882947"/>
                  </a:cubicBezTo>
                  <a:cubicBezTo>
                    <a:pt x="0" y="743836"/>
                    <a:pt x="112771" y="631065"/>
                    <a:pt x="251882" y="631065"/>
                  </a:cubicBezTo>
                  <a:cubicBezTo>
                    <a:pt x="273097" y="631065"/>
                    <a:pt x="293699" y="633688"/>
                    <a:pt x="313176" y="639451"/>
                  </a:cubicBezTo>
                  <a:cubicBezTo>
                    <a:pt x="308724" y="620089"/>
                    <a:pt x="307141" y="600023"/>
                    <a:pt x="307141" y="579587"/>
                  </a:cubicBezTo>
                  <a:cubicBezTo>
                    <a:pt x="307141" y="365660"/>
                    <a:pt x="480564" y="192237"/>
                    <a:pt x="694491" y="192237"/>
                  </a:cubicBezTo>
                  <a:cubicBezTo>
                    <a:pt x="772276" y="192237"/>
                    <a:pt x="844706" y="215165"/>
                    <a:pt x="905064" y="255135"/>
                  </a:cubicBezTo>
                  <a:cubicBezTo>
                    <a:pt x="974269" y="104188"/>
                    <a:pt x="1126955" y="0"/>
                    <a:pt x="130397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58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25400">
                <a:srgbClr val="000000">
                  <a:alpha val="40000"/>
                </a:srgbClr>
              </a:outerShdw>
            </a:effectLst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0B2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NewEdge</a:t>
              </a:r>
              <a:endParaRPr b="1" i="0" sz="800" u="none" cap="none" strike="noStrike">
                <a:solidFill>
                  <a:srgbClr val="0B246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pic>
          <p:nvPicPr>
            <p:cNvPr descr="NET_horizontal_fullcolor.png" id="407" name="Google Shape;407;p6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70162" y="2273811"/>
              <a:ext cx="335703" cy="1831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sp>
        <p:nvSpPr>
          <p:cNvPr id="408" name="Google Shape;408;p64"/>
          <p:cNvSpPr txBox="1"/>
          <p:nvPr/>
        </p:nvSpPr>
        <p:spPr>
          <a:xfrm>
            <a:off x="977806" y="3085117"/>
            <a:ext cx="1061509" cy="219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bwanif 10.88.88.77</a:t>
            </a:r>
            <a:endParaRPr/>
          </a:p>
        </p:txBody>
      </p:sp>
      <p:pic>
        <p:nvPicPr>
          <p:cNvPr id="409" name="Google Shape;409;p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9264" y="1619110"/>
            <a:ext cx="529410" cy="529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64"/>
          <p:cNvPicPr preferRelativeResize="0"/>
          <p:nvPr/>
        </p:nvPicPr>
        <p:blipFill rotWithShape="1">
          <a:blip r:embed="rId4">
            <a:alphaModFix/>
          </a:blip>
          <a:srcRect b="48507" l="58279" r="16540" t="13087"/>
          <a:stretch/>
        </p:blipFill>
        <p:spPr>
          <a:xfrm>
            <a:off x="6484532" y="1992246"/>
            <a:ext cx="138873" cy="96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1" name="Google Shape;411;p64"/>
          <p:cNvCxnSpPr>
            <a:stCxn id="409" idx="3"/>
            <a:endCxn id="412" idx="1"/>
          </p:cNvCxnSpPr>
          <p:nvPr/>
        </p:nvCxnSpPr>
        <p:spPr>
          <a:xfrm flipH="1" rot="10800000">
            <a:off x="6818674" y="1882615"/>
            <a:ext cx="381000" cy="12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12" name="Google Shape;412;p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9608" y="1736037"/>
            <a:ext cx="276225" cy="293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64"/>
          <p:cNvCxnSpPr/>
          <p:nvPr/>
        </p:nvCxnSpPr>
        <p:spPr>
          <a:xfrm>
            <a:off x="7475833" y="1893506"/>
            <a:ext cx="419027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4" name="Google Shape;414;p64"/>
          <p:cNvSpPr txBox="1"/>
          <p:nvPr/>
        </p:nvSpPr>
        <p:spPr>
          <a:xfrm>
            <a:off x="6160786" y="2157353"/>
            <a:ext cx="806459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SDWAN Hub 1</a:t>
            </a:r>
            <a:endParaRPr/>
          </a:p>
        </p:txBody>
      </p:sp>
      <p:sp>
        <p:nvSpPr>
          <p:cNvPr id="415" name="Google Shape;415;p64"/>
          <p:cNvSpPr txBox="1"/>
          <p:nvPr/>
        </p:nvSpPr>
        <p:spPr>
          <a:xfrm>
            <a:off x="6508318" y="1425422"/>
            <a:ext cx="1568058" cy="219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  BWAN HUB &lt;-- 10.88.88.0/24</a:t>
            </a:r>
            <a:endParaRPr/>
          </a:p>
        </p:txBody>
      </p:sp>
      <p:sp>
        <p:nvSpPr>
          <p:cNvPr id="416" name="Google Shape;416;p64"/>
          <p:cNvSpPr/>
          <p:nvPr/>
        </p:nvSpPr>
        <p:spPr>
          <a:xfrm>
            <a:off x="6067994" y="2999910"/>
            <a:ext cx="2593391" cy="993708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64"/>
          <p:cNvSpPr txBox="1"/>
          <p:nvPr/>
        </p:nvSpPr>
        <p:spPr>
          <a:xfrm>
            <a:off x="7782618" y="2706603"/>
            <a:ext cx="962123" cy="251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Data Center 2</a:t>
            </a:r>
            <a:endParaRPr/>
          </a:p>
        </p:txBody>
      </p:sp>
      <p:pic>
        <p:nvPicPr>
          <p:cNvPr id="418" name="Google Shape;418;p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9818" y="3193597"/>
            <a:ext cx="529410" cy="529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64"/>
          <p:cNvPicPr preferRelativeResize="0"/>
          <p:nvPr/>
        </p:nvPicPr>
        <p:blipFill rotWithShape="1">
          <a:blip r:embed="rId4">
            <a:alphaModFix/>
          </a:blip>
          <a:srcRect b="48507" l="58279" r="16540" t="13087"/>
          <a:stretch/>
        </p:blipFill>
        <p:spPr>
          <a:xfrm>
            <a:off x="6485086" y="3566733"/>
            <a:ext cx="138873" cy="96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0" name="Google Shape;420;p64"/>
          <p:cNvCxnSpPr>
            <a:stCxn id="418" idx="3"/>
            <a:endCxn id="421" idx="1"/>
          </p:cNvCxnSpPr>
          <p:nvPr/>
        </p:nvCxnSpPr>
        <p:spPr>
          <a:xfrm flipH="1" rot="10800000">
            <a:off x="6819228" y="3457102"/>
            <a:ext cx="381000" cy="12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21" name="Google Shape;421;p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00162" y="3310524"/>
            <a:ext cx="276225" cy="293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2" name="Google Shape;422;p64"/>
          <p:cNvCxnSpPr/>
          <p:nvPr/>
        </p:nvCxnSpPr>
        <p:spPr>
          <a:xfrm>
            <a:off x="7476387" y="3467993"/>
            <a:ext cx="419027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3" name="Google Shape;423;p64"/>
          <p:cNvSpPr txBox="1"/>
          <p:nvPr/>
        </p:nvSpPr>
        <p:spPr>
          <a:xfrm>
            <a:off x="6161340" y="3731840"/>
            <a:ext cx="806459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SDWAN Hub 2</a:t>
            </a:r>
            <a:endParaRPr/>
          </a:p>
        </p:txBody>
      </p:sp>
      <p:sp>
        <p:nvSpPr>
          <p:cNvPr id="424" name="Google Shape;424;p64"/>
          <p:cNvSpPr txBox="1"/>
          <p:nvPr/>
        </p:nvSpPr>
        <p:spPr>
          <a:xfrm>
            <a:off x="6508872" y="2999909"/>
            <a:ext cx="1568058" cy="219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  BWAN HUB &lt;-- 10.88.88.0/24</a:t>
            </a:r>
            <a:endParaRPr/>
          </a:p>
        </p:txBody>
      </p:sp>
      <p:pic>
        <p:nvPicPr>
          <p:cNvPr id="425" name="Google Shape;425;p6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03163" y="3211428"/>
            <a:ext cx="375067" cy="135887"/>
          </a:xfrm>
          <a:prstGeom prst="rect">
            <a:avLst/>
          </a:prstGeom>
          <a:solidFill>
            <a:srgbClr val="FFC000">
              <a:alpha val="12549"/>
            </a:srgbClr>
          </a:solidFill>
          <a:ln>
            <a:noFill/>
          </a:ln>
        </p:spPr>
      </p:pic>
      <p:pic>
        <p:nvPicPr>
          <p:cNvPr id="426" name="Google Shape;426;p6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03163" y="3376900"/>
            <a:ext cx="375067" cy="135887"/>
          </a:xfrm>
          <a:prstGeom prst="rect">
            <a:avLst/>
          </a:prstGeom>
          <a:solidFill>
            <a:srgbClr val="FFC000">
              <a:alpha val="12549"/>
            </a:srgbClr>
          </a:solidFill>
          <a:ln>
            <a:noFill/>
          </a:ln>
        </p:spPr>
      </p:pic>
      <p:pic>
        <p:nvPicPr>
          <p:cNvPr id="427" name="Google Shape;427;p6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03163" y="3554742"/>
            <a:ext cx="375067" cy="135887"/>
          </a:xfrm>
          <a:prstGeom prst="rect">
            <a:avLst/>
          </a:prstGeom>
          <a:solidFill>
            <a:srgbClr val="FFC000">
              <a:alpha val="12549"/>
            </a:srgbClr>
          </a:solidFill>
          <a:ln>
            <a:noFill/>
          </a:ln>
        </p:spPr>
      </p:pic>
      <p:cxnSp>
        <p:nvCxnSpPr>
          <p:cNvPr id="428" name="Google Shape;428;p64"/>
          <p:cNvCxnSpPr>
            <a:stCxn id="409" idx="1"/>
          </p:cNvCxnSpPr>
          <p:nvPr/>
        </p:nvCxnSpPr>
        <p:spPr>
          <a:xfrm flipH="1">
            <a:off x="4694464" y="1883815"/>
            <a:ext cx="1594800" cy="625200"/>
          </a:xfrm>
          <a:prstGeom prst="bentConnector3">
            <a:avLst>
              <a:gd fmla="val 38033" name="adj1"/>
            </a:avLst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" name="Google Shape;429;p64"/>
          <p:cNvCxnSpPr>
            <a:stCxn id="418" idx="1"/>
          </p:cNvCxnSpPr>
          <p:nvPr/>
        </p:nvCxnSpPr>
        <p:spPr>
          <a:xfrm rot="10800000">
            <a:off x="4694418" y="2692702"/>
            <a:ext cx="1595400" cy="765600"/>
          </a:xfrm>
          <a:prstGeom prst="bentConnector3">
            <a:avLst>
              <a:gd fmla="val 38036" name="adj1"/>
            </a:avLst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0" name="Google Shape;430;p64"/>
          <p:cNvSpPr txBox="1"/>
          <p:nvPr/>
        </p:nvSpPr>
        <p:spPr>
          <a:xfrm>
            <a:off x="7781085" y="3690658"/>
            <a:ext cx="68060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Applications</a:t>
            </a:r>
            <a:endParaRPr/>
          </a:p>
        </p:txBody>
      </p:sp>
      <p:cxnSp>
        <p:nvCxnSpPr>
          <p:cNvPr id="431" name="Google Shape;431;p64"/>
          <p:cNvCxnSpPr/>
          <p:nvPr/>
        </p:nvCxnSpPr>
        <p:spPr>
          <a:xfrm>
            <a:off x="1741336" y="2671130"/>
            <a:ext cx="1331164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2" name="Google Shape;432;p64"/>
          <p:cNvSpPr/>
          <p:nvPr/>
        </p:nvSpPr>
        <p:spPr>
          <a:xfrm>
            <a:off x="1773141" y="2719346"/>
            <a:ext cx="4587902" cy="900642"/>
          </a:xfrm>
          <a:custGeom>
            <a:rect b="b" l="l" r="r" t="t"/>
            <a:pathLst>
              <a:path extrusionOk="0" h="900642" w="4587902">
                <a:moveTo>
                  <a:pt x="0" y="0"/>
                </a:moveTo>
                <a:lnTo>
                  <a:pt x="3021496" y="7951"/>
                </a:lnTo>
                <a:cubicBezTo>
                  <a:pt x="3653625" y="27829"/>
                  <a:pt x="3656275" y="-19878"/>
                  <a:pt x="3792772" y="119270"/>
                </a:cubicBezTo>
                <a:cubicBezTo>
                  <a:pt x="3929269" y="258418"/>
                  <a:pt x="3707958" y="728869"/>
                  <a:pt x="3840480" y="842838"/>
                </a:cubicBezTo>
                <a:cubicBezTo>
                  <a:pt x="3973002" y="956807"/>
                  <a:pt x="4280452" y="879944"/>
                  <a:pt x="4587902" y="803082"/>
                </a:cubicBezTo>
              </a:path>
            </a:pathLst>
          </a:custGeom>
          <a:noFill/>
          <a:ln cap="flat" cmpd="sng" w="12700">
            <a:solidFill>
              <a:srgbClr val="00B05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64"/>
          <p:cNvSpPr/>
          <p:nvPr/>
        </p:nvSpPr>
        <p:spPr>
          <a:xfrm>
            <a:off x="1781092" y="1904362"/>
            <a:ext cx="4500438" cy="740703"/>
          </a:xfrm>
          <a:custGeom>
            <a:rect b="b" l="l" r="r" t="t"/>
            <a:pathLst>
              <a:path extrusionOk="0" h="740703" w="4500438">
                <a:moveTo>
                  <a:pt x="0" y="703666"/>
                </a:moveTo>
                <a:cubicBezTo>
                  <a:pt x="1446475" y="740109"/>
                  <a:pt x="2892950" y="776553"/>
                  <a:pt x="3562185" y="671861"/>
                </a:cubicBezTo>
                <a:cubicBezTo>
                  <a:pt x="4231420" y="567169"/>
                  <a:pt x="3859034" y="182856"/>
                  <a:pt x="4015409" y="75513"/>
                </a:cubicBezTo>
                <a:cubicBezTo>
                  <a:pt x="4171785" y="-31830"/>
                  <a:pt x="4336111" y="-2013"/>
                  <a:pt x="4500438" y="27805"/>
                </a:cubicBezTo>
              </a:path>
            </a:pathLst>
          </a:custGeom>
          <a:noFill/>
          <a:ln cap="flat" cmpd="sng" w="12700">
            <a:solidFill>
              <a:srgbClr val="00B05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64"/>
          <p:cNvSpPr/>
          <p:nvPr/>
        </p:nvSpPr>
        <p:spPr>
          <a:xfrm>
            <a:off x="1820849" y="2234317"/>
            <a:ext cx="2107095" cy="302149"/>
          </a:xfrm>
          <a:custGeom>
            <a:rect b="b" l="l" r="r" t="t"/>
            <a:pathLst>
              <a:path extrusionOk="0" h="302149" w="2107095">
                <a:moveTo>
                  <a:pt x="0" y="302149"/>
                </a:moveTo>
                <a:cubicBezTo>
                  <a:pt x="639417" y="283596"/>
                  <a:pt x="1278835" y="265043"/>
                  <a:pt x="1630017" y="214685"/>
                </a:cubicBezTo>
                <a:cubicBezTo>
                  <a:pt x="1981199" y="164327"/>
                  <a:pt x="2044147" y="82163"/>
                  <a:pt x="2107095" y="0"/>
                </a:cubicBezTo>
              </a:path>
            </a:pathLst>
          </a:custGeom>
          <a:noFill/>
          <a:ln cap="flat" cmpd="sng" w="127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light&#10;&#10;Description automatically generated" id="435" name="Google Shape;435;p6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5071" y="678580"/>
            <a:ext cx="1491527" cy="998851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64"/>
          <p:cNvSpPr txBox="1"/>
          <p:nvPr/>
        </p:nvSpPr>
        <p:spPr>
          <a:xfrm>
            <a:off x="961251" y="1245337"/>
            <a:ext cx="6897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5BD"/>
              </a:buClr>
              <a:buSzPts val="800"/>
              <a:buFont typeface="Arial"/>
              <a:buNone/>
            </a:pPr>
            <a:r>
              <a:rPr b="0" i="0" lang="en-US" sz="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SASE Orchestrator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559"/>
              </a:buClr>
              <a:buSzPts val="8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64"/>
          <p:cNvSpPr txBox="1"/>
          <p:nvPr/>
        </p:nvSpPr>
        <p:spPr>
          <a:xfrm>
            <a:off x="1461484" y="1245343"/>
            <a:ext cx="587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5BD"/>
              </a:buClr>
              <a:buSzPts val="800"/>
              <a:buFont typeface="Arial"/>
              <a:buNone/>
            </a:pPr>
            <a:r>
              <a:rPr b="0" i="0" lang="en-US" sz="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SASE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5BD"/>
              </a:buClr>
              <a:buSzPts val="800"/>
              <a:buFont typeface="Arial"/>
              <a:buNone/>
            </a:pPr>
            <a:r>
              <a:rPr b="0" i="0" lang="en-US" sz="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Controller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559"/>
              </a:buClr>
              <a:buSzPts val="8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8" name="Google Shape;438;p6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38341" y="1075242"/>
            <a:ext cx="233675" cy="203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6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82671" y="1075242"/>
            <a:ext cx="233675" cy="203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0" name="Google Shape;440;p64"/>
          <p:cNvCxnSpPr/>
          <p:nvPr/>
        </p:nvCxnSpPr>
        <p:spPr>
          <a:xfrm rot="10800000">
            <a:off x="1541714" y="1524622"/>
            <a:ext cx="0" cy="984318"/>
          </a:xfrm>
          <a:prstGeom prst="straightConnector1">
            <a:avLst/>
          </a:prstGeom>
          <a:noFill/>
          <a:ln cap="flat" cmpd="sng" w="12700">
            <a:solidFill>
              <a:srgbClr val="2A2B2D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41" name="Google Shape;441;p64"/>
          <p:cNvCxnSpPr/>
          <p:nvPr/>
        </p:nvCxnSpPr>
        <p:spPr>
          <a:xfrm>
            <a:off x="3452266" y="4130715"/>
            <a:ext cx="484870" cy="0"/>
          </a:xfrm>
          <a:prstGeom prst="straightConnector1">
            <a:avLst/>
          </a:prstGeom>
          <a:noFill/>
          <a:ln cap="flat" cmpd="sng" w="12700">
            <a:solidFill>
              <a:srgbClr val="2A2B2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42" name="Google Shape;442;p64"/>
          <p:cNvSpPr txBox="1"/>
          <p:nvPr/>
        </p:nvSpPr>
        <p:spPr>
          <a:xfrm>
            <a:off x="3919250" y="4029017"/>
            <a:ext cx="1501815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Management Plane Connection</a:t>
            </a:r>
            <a:endParaRPr/>
          </a:p>
        </p:txBody>
      </p:sp>
      <p:grpSp>
        <p:nvGrpSpPr>
          <p:cNvPr id="443" name="Google Shape;443;p64"/>
          <p:cNvGrpSpPr/>
          <p:nvPr/>
        </p:nvGrpSpPr>
        <p:grpSpPr>
          <a:xfrm>
            <a:off x="7856767" y="1658060"/>
            <a:ext cx="455906" cy="455906"/>
            <a:chOff x="1531294" y="3742718"/>
            <a:chExt cx="570194" cy="570194"/>
          </a:xfrm>
        </p:grpSpPr>
        <p:pic>
          <p:nvPicPr>
            <p:cNvPr id="444" name="Google Shape;444;p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31294" y="3742718"/>
              <a:ext cx="570194" cy="5701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64"/>
            <p:cNvSpPr/>
            <p:nvPr/>
          </p:nvSpPr>
          <p:spPr>
            <a:xfrm>
              <a:off x="1652760" y="3895530"/>
              <a:ext cx="309480" cy="23288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6" name="Google Shape;446;p64"/>
          <p:cNvSpPr txBox="1"/>
          <p:nvPr/>
        </p:nvSpPr>
        <p:spPr>
          <a:xfrm>
            <a:off x="7735549" y="2053842"/>
            <a:ext cx="730037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RDP Station</a:t>
            </a:r>
            <a:endParaRPr/>
          </a:p>
        </p:txBody>
      </p:sp>
      <p:sp>
        <p:nvSpPr>
          <p:cNvPr id="447" name="Google Shape;447;p64"/>
          <p:cNvSpPr txBox="1"/>
          <p:nvPr>
            <p:ph type="title"/>
          </p:nvPr>
        </p:nvSpPr>
        <p:spPr>
          <a:xfrm>
            <a:off x="457006" y="345553"/>
            <a:ext cx="80429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Use cases - UC 3: Muti-tunnel traffic steering</a:t>
            </a:r>
            <a:endParaRPr/>
          </a:p>
        </p:txBody>
      </p:sp>
      <p:sp>
        <p:nvSpPr>
          <p:cNvPr id="448" name="Google Shape;448;p64"/>
          <p:cNvSpPr/>
          <p:nvPr/>
        </p:nvSpPr>
        <p:spPr>
          <a:xfrm>
            <a:off x="0" y="0"/>
            <a:ext cx="1665300" cy="271500"/>
          </a:xfrm>
          <a:prstGeom prst="homePlate">
            <a:avLst>
              <a:gd fmla="val 50000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Agreement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64"/>
          <p:cNvSpPr/>
          <p:nvPr/>
        </p:nvSpPr>
        <p:spPr>
          <a:xfrm>
            <a:off x="1747575" y="0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Pre-Deployment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64"/>
          <p:cNvSpPr/>
          <p:nvPr/>
        </p:nvSpPr>
        <p:spPr>
          <a:xfrm>
            <a:off x="361725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b="0" i="0" sz="12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64"/>
          <p:cNvSpPr/>
          <p:nvPr/>
        </p:nvSpPr>
        <p:spPr>
          <a:xfrm>
            <a:off x="5486925" y="-1"/>
            <a:ext cx="1787400" cy="271500"/>
          </a:xfrm>
          <a:prstGeom prst="chevron">
            <a:avLst>
              <a:gd fmla="val 50000" name="adj"/>
            </a:avLst>
          </a:prstGeom>
          <a:solidFill>
            <a:srgbClr val="9DE2E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Results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64"/>
          <p:cNvSpPr/>
          <p:nvPr/>
        </p:nvSpPr>
        <p:spPr>
          <a:xfrm>
            <a:off x="735660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4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Conclusion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5"/>
          <p:cNvSpPr txBox="1"/>
          <p:nvPr/>
        </p:nvSpPr>
        <p:spPr>
          <a:xfrm>
            <a:off x="912107" y="2922452"/>
            <a:ext cx="1195181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User 1</a:t>
            </a:r>
            <a:endParaRPr/>
          </a:p>
        </p:txBody>
      </p:sp>
      <p:sp>
        <p:nvSpPr>
          <p:cNvPr id="458" name="Google Shape;458;p65"/>
          <p:cNvSpPr/>
          <p:nvPr/>
        </p:nvSpPr>
        <p:spPr>
          <a:xfrm>
            <a:off x="6067440" y="1425423"/>
            <a:ext cx="2593391" cy="993708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65"/>
          <p:cNvSpPr txBox="1"/>
          <p:nvPr/>
        </p:nvSpPr>
        <p:spPr>
          <a:xfrm>
            <a:off x="7782064" y="1132116"/>
            <a:ext cx="962123" cy="251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Data Center 1</a:t>
            </a:r>
            <a:endParaRPr/>
          </a:p>
        </p:txBody>
      </p:sp>
      <p:sp>
        <p:nvSpPr>
          <p:cNvPr id="460" name="Google Shape;460;p65"/>
          <p:cNvSpPr/>
          <p:nvPr/>
        </p:nvSpPr>
        <p:spPr>
          <a:xfrm>
            <a:off x="3072500" y="2043661"/>
            <a:ext cx="1621985" cy="827756"/>
          </a:xfrm>
          <a:custGeom>
            <a:rect b="b" l="l" r="r" t="t"/>
            <a:pathLst>
              <a:path extrusionOk="0" h="1134830" w="2154823">
                <a:moveTo>
                  <a:pt x="1303975" y="0"/>
                </a:moveTo>
                <a:cubicBezTo>
                  <a:pt x="1524382" y="0"/>
                  <a:pt x="1707064" y="161518"/>
                  <a:pt x="1738536" y="372895"/>
                </a:cubicBezTo>
                <a:cubicBezTo>
                  <a:pt x="1749503" y="370002"/>
                  <a:pt x="1760774" y="369505"/>
                  <a:pt x="1772161" y="369505"/>
                </a:cubicBezTo>
                <a:cubicBezTo>
                  <a:pt x="1983499" y="369505"/>
                  <a:pt x="2154823" y="540829"/>
                  <a:pt x="2154823" y="752167"/>
                </a:cubicBezTo>
                <a:cubicBezTo>
                  <a:pt x="2154823" y="963505"/>
                  <a:pt x="1983499" y="1134829"/>
                  <a:pt x="1772161" y="1134829"/>
                </a:cubicBezTo>
                <a:lnTo>
                  <a:pt x="1765065" y="1134252"/>
                </a:lnTo>
                <a:cubicBezTo>
                  <a:pt x="1764130" y="1134809"/>
                  <a:pt x="1763168" y="1134830"/>
                  <a:pt x="1762200" y="1134830"/>
                </a:cubicBezTo>
                <a:lnTo>
                  <a:pt x="308458" y="1134830"/>
                </a:lnTo>
                <a:lnTo>
                  <a:pt x="290561" y="1131217"/>
                </a:lnTo>
                <a:cubicBezTo>
                  <a:pt x="278021" y="1133816"/>
                  <a:pt x="265070" y="1134829"/>
                  <a:pt x="251882" y="1134829"/>
                </a:cubicBezTo>
                <a:cubicBezTo>
                  <a:pt x="112771" y="1134829"/>
                  <a:pt x="0" y="1022058"/>
                  <a:pt x="0" y="882947"/>
                </a:cubicBezTo>
                <a:cubicBezTo>
                  <a:pt x="0" y="743836"/>
                  <a:pt x="112771" y="631065"/>
                  <a:pt x="251882" y="631065"/>
                </a:cubicBezTo>
                <a:cubicBezTo>
                  <a:pt x="273097" y="631065"/>
                  <a:pt x="293699" y="633688"/>
                  <a:pt x="313176" y="639451"/>
                </a:cubicBezTo>
                <a:cubicBezTo>
                  <a:pt x="308724" y="620089"/>
                  <a:pt x="307141" y="600023"/>
                  <a:pt x="307141" y="579587"/>
                </a:cubicBezTo>
                <a:cubicBezTo>
                  <a:pt x="307141" y="365660"/>
                  <a:pt x="480564" y="192237"/>
                  <a:pt x="694491" y="192237"/>
                </a:cubicBezTo>
                <a:cubicBezTo>
                  <a:pt x="772276" y="192237"/>
                  <a:pt x="844706" y="215165"/>
                  <a:pt x="905064" y="255135"/>
                </a:cubicBezTo>
                <a:cubicBezTo>
                  <a:pt x="974269" y="104188"/>
                  <a:pt x="1126955" y="0"/>
                  <a:pt x="1303975" y="0"/>
                </a:cubicBezTo>
                <a:close/>
              </a:path>
            </a:pathLst>
          </a:cu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B246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1" name="Google Shape;461;p65"/>
          <p:cNvSpPr txBox="1"/>
          <p:nvPr/>
        </p:nvSpPr>
        <p:spPr>
          <a:xfrm>
            <a:off x="3919250" y="2300378"/>
            <a:ext cx="675185" cy="250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B246B"/>
                </a:solidFill>
                <a:latin typeface="Trebuchet MS"/>
                <a:ea typeface="Trebuchet MS"/>
                <a:cs typeface="Trebuchet MS"/>
                <a:sym typeface="Trebuchet MS"/>
              </a:rPr>
              <a:t>Internet</a:t>
            </a:r>
            <a:endParaRPr b="0" i="0" sz="1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62" name="Google Shape;462;p65"/>
          <p:cNvGrpSpPr/>
          <p:nvPr/>
        </p:nvGrpSpPr>
        <p:grpSpPr>
          <a:xfrm>
            <a:off x="1235687" y="2415069"/>
            <a:ext cx="570194" cy="570194"/>
            <a:chOff x="1531294" y="3742718"/>
            <a:chExt cx="570194" cy="570194"/>
          </a:xfrm>
        </p:grpSpPr>
        <p:pic>
          <p:nvPicPr>
            <p:cNvPr id="463" name="Google Shape;463;p6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31294" y="3742718"/>
              <a:ext cx="570194" cy="5701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4" name="Google Shape;464;p65"/>
            <p:cNvSpPr/>
            <p:nvPr/>
          </p:nvSpPr>
          <p:spPr>
            <a:xfrm>
              <a:off x="1652760" y="3895530"/>
              <a:ext cx="309480" cy="23288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65" name="Google Shape;465;p65"/>
          <p:cNvPicPr preferRelativeResize="0"/>
          <p:nvPr/>
        </p:nvPicPr>
        <p:blipFill rotWithShape="1">
          <a:blip r:embed="rId4">
            <a:alphaModFix/>
          </a:blip>
          <a:srcRect b="48507" l="58279" r="16540" t="13087"/>
          <a:stretch/>
        </p:blipFill>
        <p:spPr>
          <a:xfrm>
            <a:off x="1357153" y="2578158"/>
            <a:ext cx="302816" cy="2099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6" name="Google Shape;466;p65"/>
          <p:cNvCxnSpPr/>
          <p:nvPr/>
        </p:nvCxnSpPr>
        <p:spPr>
          <a:xfrm>
            <a:off x="3461782" y="4331079"/>
            <a:ext cx="484870" cy="0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67" name="Google Shape;467;p65"/>
          <p:cNvCxnSpPr/>
          <p:nvPr/>
        </p:nvCxnSpPr>
        <p:spPr>
          <a:xfrm>
            <a:off x="3461782" y="4533114"/>
            <a:ext cx="484870" cy="0"/>
          </a:xfrm>
          <a:prstGeom prst="straightConnector1">
            <a:avLst/>
          </a:prstGeom>
          <a:noFill/>
          <a:ln cap="flat" cmpd="sng" w="127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68" name="Google Shape;468;p65"/>
          <p:cNvSpPr txBox="1"/>
          <p:nvPr/>
        </p:nvSpPr>
        <p:spPr>
          <a:xfrm>
            <a:off x="3959367" y="4433086"/>
            <a:ext cx="767927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Tunnel to SSE</a:t>
            </a:r>
            <a:endParaRPr/>
          </a:p>
        </p:txBody>
      </p:sp>
      <p:sp>
        <p:nvSpPr>
          <p:cNvPr id="469" name="Google Shape;469;p65"/>
          <p:cNvSpPr txBox="1"/>
          <p:nvPr/>
        </p:nvSpPr>
        <p:spPr>
          <a:xfrm>
            <a:off x="3858461" y="4228824"/>
            <a:ext cx="1037568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SDWAN Overlay</a:t>
            </a:r>
            <a:endParaRPr/>
          </a:p>
        </p:txBody>
      </p:sp>
      <p:grpSp>
        <p:nvGrpSpPr>
          <p:cNvPr id="470" name="Google Shape;470;p65"/>
          <p:cNvGrpSpPr/>
          <p:nvPr/>
        </p:nvGrpSpPr>
        <p:grpSpPr>
          <a:xfrm>
            <a:off x="3825655" y="1658244"/>
            <a:ext cx="1133212" cy="578318"/>
            <a:chOff x="5958349" y="2061487"/>
            <a:chExt cx="1133212" cy="578318"/>
          </a:xfrm>
        </p:grpSpPr>
        <p:sp>
          <p:nvSpPr>
            <p:cNvPr id="471" name="Google Shape;471;p65"/>
            <p:cNvSpPr/>
            <p:nvPr/>
          </p:nvSpPr>
          <p:spPr>
            <a:xfrm>
              <a:off x="5958349" y="2061487"/>
              <a:ext cx="1133212" cy="578318"/>
            </a:xfrm>
            <a:custGeom>
              <a:rect b="b" l="l" r="r" t="t"/>
              <a:pathLst>
                <a:path extrusionOk="0" h="1134830" w="2154823">
                  <a:moveTo>
                    <a:pt x="1303975" y="0"/>
                  </a:moveTo>
                  <a:cubicBezTo>
                    <a:pt x="1524382" y="0"/>
                    <a:pt x="1707064" y="161518"/>
                    <a:pt x="1738536" y="372895"/>
                  </a:cubicBezTo>
                  <a:cubicBezTo>
                    <a:pt x="1749503" y="370002"/>
                    <a:pt x="1760774" y="369505"/>
                    <a:pt x="1772161" y="369505"/>
                  </a:cubicBezTo>
                  <a:cubicBezTo>
                    <a:pt x="1983499" y="369505"/>
                    <a:pt x="2154823" y="540829"/>
                    <a:pt x="2154823" y="752167"/>
                  </a:cubicBezTo>
                  <a:cubicBezTo>
                    <a:pt x="2154823" y="963505"/>
                    <a:pt x="1983499" y="1134829"/>
                    <a:pt x="1772161" y="1134829"/>
                  </a:cubicBezTo>
                  <a:lnTo>
                    <a:pt x="1765065" y="1134252"/>
                  </a:lnTo>
                  <a:cubicBezTo>
                    <a:pt x="1764130" y="1134809"/>
                    <a:pt x="1763168" y="1134830"/>
                    <a:pt x="1762200" y="1134830"/>
                  </a:cubicBezTo>
                  <a:lnTo>
                    <a:pt x="308458" y="1134830"/>
                  </a:lnTo>
                  <a:lnTo>
                    <a:pt x="290561" y="1131217"/>
                  </a:lnTo>
                  <a:cubicBezTo>
                    <a:pt x="278021" y="1133816"/>
                    <a:pt x="265070" y="1134829"/>
                    <a:pt x="251882" y="1134829"/>
                  </a:cubicBezTo>
                  <a:cubicBezTo>
                    <a:pt x="112771" y="1134829"/>
                    <a:pt x="0" y="1022058"/>
                    <a:pt x="0" y="882947"/>
                  </a:cubicBezTo>
                  <a:cubicBezTo>
                    <a:pt x="0" y="743836"/>
                    <a:pt x="112771" y="631065"/>
                    <a:pt x="251882" y="631065"/>
                  </a:cubicBezTo>
                  <a:cubicBezTo>
                    <a:pt x="273097" y="631065"/>
                    <a:pt x="293699" y="633688"/>
                    <a:pt x="313176" y="639451"/>
                  </a:cubicBezTo>
                  <a:cubicBezTo>
                    <a:pt x="308724" y="620089"/>
                    <a:pt x="307141" y="600023"/>
                    <a:pt x="307141" y="579587"/>
                  </a:cubicBezTo>
                  <a:cubicBezTo>
                    <a:pt x="307141" y="365660"/>
                    <a:pt x="480564" y="192237"/>
                    <a:pt x="694491" y="192237"/>
                  </a:cubicBezTo>
                  <a:cubicBezTo>
                    <a:pt x="772276" y="192237"/>
                    <a:pt x="844706" y="215165"/>
                    <a:pt x="905064" y="255135"/>
                  </a:cubicBezTo>
                  <a:cubicBezTo>
                    <a:pt x="974269" y="104188"/>
                    <a:pt x="1126955" y="0"/>
                    <a:pt x="130397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58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25400">
                <a:srgbClr val="000000">
                  <a:alpha val="40000"/>
                </a:srgbClr>
              </a:outerShdw>
            </a:effectLst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0B2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NewEdge</a:t>
              </a:r>
              <a:endParaRPr b="1" i="0" sz="800" u="none" cap="none" strike="noStrike">
                <a:solidFill>
                  <a:srgbClr val="0B246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pic>
          <p:nvPicPr>
            <p:cNvPr descr="NET_horizontal_fullcolor.png" id="472" name="Google Shape;472;p6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70162" y="2273811"/>
              <a:ext cx="335703" cy="1831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sp>
        <p:nvSpPr>
          <p:cNvPr id="473" name="Google Shape;473;p65"/>
          <p:cNvSpPr txBox="1"/>
          <p:nvPr/>
        </p:nvSpPr>
        <p:spPr>
          <a:xfrm>
            <a:off x="977806" y="3085117"/>
            <a:ext cx="1061509" cy="219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bwanif 10.88.88.77</a:t>
            </a:r>
            <a:endParaRPr/>
          </a:p>
        </p:txBody>
      </p:sp>
      <p:pic>
        <p:nvPicPr>
          <p:cNvPr id="474" name="Google Shape;474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9264" y="1619110"/>
            <a:ext cx="529410" cy="529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65"/>
          <p:cNvPicPr preferRelativeResize="0"/>
          <p:nvPr/>
        </p:nvPicPr>
        <p:blipFill rotWithShape="1">
          <a:blip r:embed="rId4">
            <a:alphaModFix/>
          </a:blip>
          <a:srcRect b="48507" l="58279" r="16540" t="13087"/>
          <a:stretch/>
        </p:blipFill>
        <p:spPr>
          <a:xfrm>
            <a:off x="6484532" y="1992246"/>
            <a:ext cx="138873" cy="96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6" name="Google Shape;476;p65"/>
          <p:cNvCxnSpPr>
            <a:stCxn id="474" idx="3"/>
            <a:endCxn id="477" idx="1"/>
          </p:cNvCxnSpPr>
          <p:nvPr/>
        </p:nvCxnSpPr>
        <p:spPr>
          <a:xfrm flipH="1" rot="10800000">
            <a:off x="6818674" y="1882615"/>
            <a:ext cx="381000" cy="12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77" name="Google Shape;477;p6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99608" y="1736037"/>
            <a:ext cx="276225" cy="293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8" name="Google Shape;478;p65"/>
          <p:cNvCxnSpPr/>
          <p:nvPr/>
        </p:nvCxnSpPr>
        <p:spPr>
          <a:xfrm>
            <a:off x="7475833" y="1893506"/>
            <a:ext cx="419027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9" name="Google Shape;479;p65"/>
          <p:cNvSpPr txBox="1"/>
          <p:nvPr/>
        </p:nvSpPr>
        <p:spPr>
          <a:xfrm>
            <a:off x="6160786" y="2157353"/>
            <a:ext cx="806459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SDWAN Hub 1</a:t>
            </a:r>
            <a:endParaRPr/>
          </a:p>
        </p:txBody>
      </p:sp>
      <p:sp>
        <p:nvSpPr>
          <p:cNvPr id="480" name="Google Shape;480;p65"/>
          <p:cNvSpPr txBox="1"/>
          <p:nvPr/>
        </p:nvSpPr>
        <p:spPr>
          <a:xfrm>
            <a:off x="6508318" y="1425422"/>
            <a:ext cx="1568058" cy="219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  BWAN HUB &lt;-- 10.88.88.0/24</a:t>
            </a:r>
            <a:endParaRPr/>
          </a:p>
        </p:txBody>
      </p:sp>
      <p:sp>
        <p:nvSpPr>
          <p:cNvPr id="481" name="Google Shape;481;p65"/>
          <p:cNvSpPr/>
          <p:nvPr/>
        </p:nvSpPr>
        <p:spPr>
          <a:xfrm>
            <a:off x="6067994" y="2999910"/>
            <a:ext cx="2593391" cy="993708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65"/>
          <p:cNvSpPr txBox="1"/>
          <p:nvPr/>
        </p:nvSpPr>
        <p:spPr>
          <a:xfrm>
            <a:off x="7782618" y="2706603"/>
            <a:ext cx="962123" cy="251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Data Center 2</a:t>
            </a:r>
            <a:endParaRPr/>
          </a:p>
        </p:txBody>
      </p:sp>
      <p:pic>
        <p:nvPicPr>
          <p:cNvPr id="483" name="Google Shape;483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9818" y="3193597"/>
            <a:ext cx="529410" cy="529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65"/>
          <p:cNvPicPr preferRelativeResize="0"/>
          <p:nvPr/>
        </p:nvPicPr>
        <p:blipFill rotWithShape="1">
          <a:blip r:embed="rId4">
            <a:alphaModFix/>
          </a:blip>
          <a:srcRect b="48507" l="58279" r="16540" t="13087"/>
          <a:stretch/>
        </p:blipFill>
        <p:spPr>
          <a:xfrm>
            <a:off x="6485086" y="3566733"/>
            <a:ext cx="138873" cy="96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5" name="Google Shape;485;p65"/>
          <p:cNvCxnSpPr>
            <a:stCxn id="483" idx="3"/>
            <a:endCxn id="486" idx="1"/>
          </p:cNvCxnSpPr>
          <p:nvPr/>
        </p:nvCxnSpPr>
        <p:spPr>
          <a:xfrm flipH="1" rot="10800000">
            <a:off x="6819228" y="3457102"/>
            <a:ext cx="381000" cy="120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86" name="Google Shape;486;p6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00162" y="3310524"/>
            <a:ext cx="276225" cy="293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7" name="Google Shape;487;p65"/>
          <p:cNvCxnSpPr/>
          <p:nvPr/>
        </p:nvCxnSpPr>
        <p:spPr>
          <a:xfrm>
            <a:off x="7476387" y="3467993"/>
            <a:ext cx="419027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8" name="Google Shape;488;p65"/>
          <p:cNvSpPr txBox="1"/>
          <p:nvPr/>
        </p:nvSpPr>
        <p:spPr>
          <a:xfrm>
            <a:off x="6161340" y="3731840"/>
            <a:ext cx="806459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SDWAN Hub 2</a:t>
            </a:r>
            <a:endParaRPr/>
          </a:p>
        </p:txBody>
      </p:sp>
      <p:sp>
        <p:nvSpPr>
          <p:cNvPr id="489" name="Google Shape;489;p65"/>
          <p:cNvSpPr txBox="1"/>
          <p:nvPr/>
        </p:nvSpPr>
        <p:spPr>
          <a:xfrm>
            <a:off x="6508872" y="2999909"/>
            <a:ext cx="1568058" cy="219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  BWAN HUB &lt;-- 10.88.88.0/24</a:t>
            </a:r>
            <a:endParaRPr/>
          </a:p>
        </p:txBody>
      </p:sp>
      <p:pic>
        <p:nvPicPr>
          <p:cNvPr id="490" name="Google Shape;490;p6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03163" y="3211428"/>
            <a:ext cx="375067" cy="135887"/>
          </a:xfrm>
          <a:prstGeom prst="rect">
            <a:avLst/>
          </a:prstGeom>
          <a:solidFill>
            <a:srgbClr val="FFC000">
              <a:alpha val="12549"/>
            </a:srgbClr>
          </a:solidFill>
          <a:ln>
            <a:noFill/>
          </a:ln>
        </p:spPr>
      </p:pic>
      <p:pic>
        <p:nvPicPr>
          <p:cNvPr id="491" name="Google Shape;491;p6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03163" y="3376900"/>
            <a:ext cx="375067" cy="135887"/>
          </a:xfrm>
          <a:prstGeom prst="rect">
            <a:avLst/>
          </a:prstGeom>
          <a:solidFill>
            <a:srgbClr val="FFC000">
              <a:alpha val="12549"/>
            </a:srgbClr>
          </a:solidFill>
          <a:ln>
            <a:noFill/>
          </a:ln>
        </p:spPr>
      </p:pic>
      <p:pic>
        <p:nvPicPr>
          <p:cNvPr id="492" name="Google Shape;492;p6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03163" y="3554742"/>
            <a:ext cx="375067" cy="135887"/>
          </a:xfrm>
          <a:prstGeom prst="rect">
            <a:avLst/>
          </a:prstGeom>
          <a:solidFill>
            <a:srgbClr val="FFC000">
              <a:alpha val="12549"/>
            </a:srgbClr>
          </a:solidFill>
          <a:ln>
            <a:noFill/>
          </a:ln>
        </p:spPr>
      </p:pic>
      <p:cxnSp>
        <p:nvCxnSpPr>
          <p:cNvPr id="493" name="Google Shape;493;p65"/>
          <p:cNvCxnSpPr>
            <a:stCxn id="474" idx="1"/>
          </p:cNvCxnSpPr>
          <p:nvPr/>
        </p:nvCxnSpPr>
        <p:spPr>
          <a:xfrm flipH="1">
            <a:off x="4694464" y="1883815"/>
            <a:ext cx="1594800" cy="625200"/>
          </a:xfrm>
          <a:prstGeom prst="bentConnector3">
            <a:avLst>
              <a:gd fmla="val 38033" name="adj1"/>
            </a:avLst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4" name="Google Shape;494;p65"/>
          <p:cNvCxnSpPr>
            <a:stCxn id="483" idx="1"/>
          </p:cNvCxnSpPr>
          <p:nvPr/>
        </p:nvCxnSpPr>
        <p:spPr>
          <a:xfrm rot="10800000">
            <a:off x="4694418" y="2692702"/>
            <a:ext cx="1595400" cy="765600"/>
          </a:xfrm>
          <a:prstGeom prst="bentConnector3">
            <a:avLst>
              <a:gd fmla="val 38036" name="adj1"/>
            </a:avLst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5" name="Google Shape;495;p65"/>
          <p:cNvSpPr txBox="1"/>
          <p:nvPr/>
        </p:nvSpPr>
        <p:spPr>
          <a:xfrm>
            <a:off x="7781085" y="3690658"/>
            <a:ext cx="68060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Applications</a:t>
            </a:r>
            <a:endParaRPr/>
          </a:p>
        </p:txBody>
      </p:sp>
      <p:cxnSp>
        <p:nvCxnSpPr>
          <p:cNvPr id="496" name="Google Shape;496;p65"/>
          <p:cNvCxnSpPr/>
          <p:nvPr/>
        </p:nvCxnSpPr>
        <p:spPr>
          <a:xfrm>
            <a:off x="1741336" y="2671130"/>
            <a:ext cx="1331164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7" name="Google Shape;497;p65"/>
          <p:cNvSpPr/>
          <p:nvPr/>
        </p:nvSpPr>
        <p:spPr>
          <a:xfrm>
            <a:off x="1773141" y="2719346"/>
            <a:ext cx="4587902" cy="900642"/>
          </a:xfrm>
          <a:custGeom>
            <a:rect b="b" l="l" r="r" t="t"/>
            <a:pathLst>
              <a:path extrusionOk="0" h="900642" w="4587902">
                <a:moveTo>
                  <a:pt x="0" y="0"/>
                </a:moveTo>
                <a:lnTo>
                  <a:pt x="3021496" y="7951"/>
                </a:lnTo>
                <a:cubicBezTo>
                  <a:pt x="3653625" y="27829"/>
                  <a:pt x="3656275" y="-19878"/>
                  <a:pt x="3792772" y="119270"/>
                </a:cubicBezTo>
                <a:cubicBezTo>
                  <a:pt x="3929269" y="258418"/>
                  <a:pt x="3707958" y="728869"/>
                  <a:pt x="3840480" y="842838"/>
                </a:cubicBezTo>
                <a:cubicBezTo>
                  <a:pt x="3973002" y="956807"/>
                  <a:pt x="4280452" y="879944"/>
                  <a:pt x="4587902" y="803082"/>
                </a:cubicBezTo>
              </a:path>
            </a:pathLst>
          </a:custGeom>
          <a:noFill/>
          <a:ln cap="flat" cmpd="sng" w="12700">
            <a:solidFill>
              <a:srgbClr val="00B05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65"/>
          <p:cNvSpPr/>
          <p:nvPr/>
        </p:nvSpPr>
        <p:spPr>
          <a:xfrm>
            <a:off x="1781092" y="1904362"/>
            <a:ext cx="4500438" cy="740703"/>
          </a:xfrm>
          <a:custGeom>
            <a:rect b="b" l="l" r="r" t="t"/>
            <a:pathLst>
              <a:path extrusionOk="0" h="740703" w="4500438">
                <a:moveTo>
                  <a:pt x="0" y="703666"/>
                </a:moveTo>
                <a:cubicBezTo>
                  <a:pt x="1446475" y="740109"/>
                  <a:pt x="2892950" y="776553"/>
                  <a:pt x="3562185" y="671861"/>
                </a:cubicBezTo>
                <a:cubicBezTo>
                  <a:pt x="4231420" y="567169"/>
                  <a:pt x="3859034" y="182856"/>
                  <a:pt x="4015409" y="75513"/>
                </a:cubicBezTo>
                <a:cubicBezTo>
                  <a:pt x="4171785" y="-31830"/>
                  <a:pt x="4336111" y="-2013"/>
                  <a:pt x="4500438" y="27805"/>
                </a:cubicBezTo>
              </a:path>
            </a:pathLst>
          </a:custGeom>
          <a:noFill/>
          <a:ln cap="flat" cmpd="sng" w="12700">
            <a:solidFill>
              <a:srgbClr val="00B05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65"/>
          <p:cNvSpPr/>
          <p:nvPr/>
        </p:nvSpPr>
        <p:spPr>
          <a:xfrm>
            <a:off x="1820849" y="2234317"/>
            <a:ext cx="2107095" cy="302149"/>
          </a:xfrm>
          <a:custGeom>
            <a:rect b="b" l="l" r="r" t="t"/>
            <a:pathLst>
              <a:path extrusionOk="0" h="302149" w="2107095">
                <a:moveTo>
                  <a:pt x="0" y="302149"/>
                </a:moveTo>
                <a:cubicBezTo>
                  <a:pt x="639417" y="283596"/>
                  <a:pt x="1278835" y="265043"/>
                  <a:pt x="1630017" y="214685"/>
                </a:cubicBezTo>
                <a:cubicBezTo>
                  <a:pt x="1981199" y="164327"/>
                  <a:pt x="2044147" y="82163"/>
                  <a:pt x="2107095" y="0"/>
                </a:cubicBezTo>
              </a:path>
            </a:pathLst>
          </a:custGeom>
          <a:noFill/>
          <a:ln cap="flat" cmpd="sng" w="127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light&#10;&#10;Description automatically generated" id="500" name="Google Shape;500;p6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5071" y="678580"/>
            <a:ext cx="1491527" cy="998851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65"/>
          <p:cNvSpPr txBox="1"/>
          <p:nvPr/>
        </p:nvSpPr>
        <p:spPr>
          <a:xfrm>
            <a:off x="961251" y="1245337"/>
            <a:ext cx="6897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5BD"/>
              </a:buClr>
              <a:buSzPts val="800"/>
              <a:buFont typeface="Arial"/>
              <a:buNone/>
            </a:pPr>
            <a:r>
              <a:rPr b="0" i="0" lang="en-US" sz="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SASE Orchestrator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559"/>
              </a:buClr>
              <a:buSzPts val="8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65"/>
          <p:cNvSpPr txBox="1"/>
          <p:nvPr/>
        </p:nvSpPr>
        <p:spPr>
          <a:xfrm>
            <a:off x="1461484" y="1245343"/>
            <a:ext cx="587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5BD"/>
              </a:buClr>
              <a:buSzPts val="800"/>
              <a:buFont typeface="Arial"/>
              <a:buNone/>
            </a:pPr>
            <a:r>
              <a:rPr b="0" i="0" lang="en-US" sz="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SASE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5BD"/>
              </a:buClr>
              <a:buSzPts val="800"/>
              <a:buFont typeface="Arial"/>
              <a:buNone/>
            </a:pPr>
            <a:r>
              <a:rPr b="0" i="0" lang="en-US" sz="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Controller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559"/>
              </a:buClr>
              <a:buSzPts val="8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03" name="Google Shape;503;p6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638341" y="1075242"/>
            <a:ext cx="233675" cy="203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6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82671" y="1075242"/>
            <a:ext cx="233675" cy="203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5" name="Google Shape;505;p65"/>
          <p:cNvCxnSpPr/>
          <p:nvPr/>
        </p:nvCxnSpPr>
        <p:spPr>
          <a:xfrm rot="10800000">
            <a:off x="1541714" y="1524622"/>
            <a:ext cx="0" cy="984318"/>
          </a:xfrm>
          <a:prstGeom prst="straightConnector1">
            <a:avLst/>
          </a:prstGeom>
          <a:noFill/>
          <a:ln cap="flat" cmpd="sng" w="12700">
            <a:solidFill>
              <a:srgbClr val="2A2B2D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06" name="Google Shape;506;p65"/>
          <p:cNvCxnSpPr/>
          <p:nvPr/>
        </p:nvCxnSpPr>
        <p:spPr>
          <a:xfrm>
            <a:off x="3452266" y="4130715"/>
            <a:ext cx="484870" cy="0"/>
          </a:xfrm>
          <a:prstGeom prst="straightConnector1">
            <a:avLst/>
          </a:prstGeom>
          <a:noFill/>
          <a:ln cap="flat" cmpd="sng" w="12700">
            <a:solidFill>
              <a:srgbClr val="2A2B2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07" name="Google Shape;507;p65"/>
          <p:cNvSpPr txBox="1"/>
          <p:nvPr/>
        </p:nvSpPr>
        <p:spPr>
          <a:xfrm>
            <a:off x="3919250" y="4029017"/>
            <a:ext cx="1501815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Management Plane Connection</a:t>
            </a:r>
            <a:endParaRPr/>
          </a:p>
        </p:txBody>
      </p:sp>
      <p:grpSp>
        <p:nvGrpSpPr>
          <p:cNvPr id="508" name="Google Shape;508;p65"/>
          <p:cNvGrpSpPr/>
          <p:nvPr/>
        </p:nvGrpSpPr>
        <p:grpSpPr>
          <a:xfrm>
            <a:off x="7856767" y="1658060"/>
            <a:ext cx="455906" cy="455906"/>
            <a:chOff x="1531294" y="3742718"/>
            <a:chExt cx="570194" cy="570194"/>
          </a:xfrm>
        </p:grpSpPr>
        <p:pic>
          <p:nvPicPr>
            <p:cNvPr id="509" name="Google Shape;509;p6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31294" y="3742718"/>
              <a:ext cx="570194" cy="5701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0" name="Google Shape;510;p65"/>
            <p:cNvSpPr/>
            <p:nvPr/>
          </p:nvSpPr>
          <p:spPr>
            <a:xfrm>
              <a:off x="1652760" y="3895530"/>
              <a:ext cx="309480" cy="23288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1" name="Google Shape;511;p65"/>
          <p:cNvSpPr txBox="1"/>
          <p:nvPr/>
        </p:nvSpPr>
        <p:spPr>
          <a:xfrm>
            <a:off x="7735549" y="2053842"/>
            <a:ext cx="730037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RDP Station</a:t>
            </a:r>
            <a:endParaRPr/>
          </a:p>
        </p:txBody>
      </p:sp>
      <p:sp>
        <p:nvSpPr>
          <p:cNvPr id="512" name="Google Shape;512;p65"/>
          <p:cNvSpPr/>
          <p:nvPr/>
        </p:nvSpPr>
        <p:spPr>
          <a:xfrm>
            <a:off x="1789043" y="1732805"/>
            <a:ext cx="6035040" cy="843418"/>
          </a:xfrm>
          <a:custGeom>
            <a:rect b="b" l="l" r="r" t="t"/>
            <a:pathLst>
              <a:path extrusionOk="0" h="843418" w="6035040">
                <a:moveTo>
                  <a:pt x="6035040" y="72141"/>
                </a:moveTo>
                <a:cubicBezTo>
                  <a:pt x="5333337" y="12506"/>
                  <a:pt x="4631635" y="-47129"/>
                  <a:pt x="4261900" y="56238"/>
                </a:cubicBezTo>
                <a:cubicBezTo>
                  <a:pt x="3892165" y="159605"/>
                  <a:pt x="4526944" y="561146"/>
                  <a:pt x="3816627" y="692343"/>
                </a:cubicBezTo>
                <a:cubicBezTo>
                  <a:pt x="3106310" y="823540"/>
                  <a:pt x="1553155" y="833479"/>
                  <a:pt x="0" y="843418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3" name="Google Shape;513;p65"/>
          <p:cNvCxnSpPr/>
          <p:nvPr/>
        </p:nvCxnSpPr>
        <p:spPr>
          <a:xfrm>
            <a:off x="3461782" y="4735148"/>
            <a:ext cx="484870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4" name="Google Shape;514;p65"/>
          <p:cNvSpPr txBox="1"/>
          <p:nvPr/>
        </p:nvSpPr>
        <p:spPr>
          <a:xfrm>
            <a:off x="3959367" y="4635120"/>
            <a:ext cx="1501815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RDP connection, Server to client</a:t>
            </a:r>
            <a:endParaRPr/>
          </a:p>
        </p:txBody>
      </p:sp>
      <p:sp>
        <p:nvSpPr>
          <p:cNvPr id="515" name="Google Shape;515;p65"/>
          <p:cNvSpPr txBox="1"/>
          <p:nvPr>
            <p:ph type="title"/>
          </p:nvPr>
        </p:nvSpPr>
        <p:spPr>
          <a:xfrm>
            <a:off x="457006" y="345553"/>
            <a:ext cx="80429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Use cases - UC 4: Server to client connectivity</a:t>
            </a:r>
            <a:endParaRPr/>
          </a:p>
        </p:txBody>
      </p:sp>
      <p:sp>
        <p:nvSpPr>
          <p:cNvPr id="516" name="Google Shape;516;p65"/>
          <p:cNvSpPr/>
          <p:nvPr/>
        </p:nvSpPr>
        <p:spPr>
          <a:xfrm>
            <a:off x="0" y="0"/>
            <a:ext cx="1665300" cy="271500"/>
          </a:xfrm>
          <a:prstGeom prst="homePlate">
            <a:avLst>
              <a:gd fmla="val 50000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Agreement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" name="Google Shape;517;p65"/>
          <p:cNvSpPr/>
          <p:nvPr/>
        </p:nvSpPr>
        <p:spPr>
          <a:xfrm>
            <a:off x="1747575" y="0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Pre-Deployment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65"/>
          <p:cNvSpPr/>
          <p:nvPr/>
        </p:nvSpPr>
        <p:spPr>
          <a:xfrm>
            <a:off x="361725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b="0" i="0" sz="12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9" name="Google Shape;519;p65"/>
          <p:cNvSpPr/>
          <p:nvPr/>
        </p:nvSpPr>
        <p:spPr>
          <a:xfrm>
            <a:off x="5486925" y="-1"/>
            <a:ext cx="1787400" cy="271500"/>
          </a:xfrm>
          <a:prstGeom prst="chevron">
            <a:avLst>
              <a:gd fmla="val 50000" name="adj"/>
            </a:avLst>
          </a:prstGeom>
          <a:solidFill>
            <a:srgbClr val="9DE2E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Results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0" name="Google Shape;520;p65"/>
          <p:cNvSpPr/>
          <p:nvPr/>
        </p:nvSpPr>
        <p:spPr>
          <a:xfrm>
            <a:off x="735660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4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Conclusion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6"/>
          <p:cNvSpPr txBox="1"/>
          <p:nvPr/>
        </p:nvSpPr>
        <p:spPr>
          <a:xfrm>
            <a:off x="1097789" y="2272022"/>
            <a:ext cx="1195181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User 1</a:t>
            </a:r>
            <a:endParaRPr/>
          </a:p>
        </p:txBody>
      </p:sp>
      <p:sp>
        <p:nvSpPr>
          <p:cNvPr id="526" name="Google Shape;526;p66"/>
          <p:cNvSpPr/>
          <p:nvPr/>
        </p:nvSpPr>
        <p:spPr>
          <a:xfrm>
            <a:off x="5782033" y="2407306"/>
            <a:ext cx="2593391" cy="1100399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66"/>
          <p:cNvSpPr txBox="1"/>
          <p:nvPr/>
        </p:nvSpPr>
        <p:spPr>
          <a:xfrm>
            <a:off x="7496657" y="2114000"/>
            <a:ext cx="962123" cy="251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Data Center 1</a:t>
            </a:r>
            <a:endParaRPr/>
          </a:p>
        </p:txBody>
      </p:sp>
      <p:sp>
        <p:nvSpPr>
          <p:cNvPr id="528" name="Google Shape;528;p66"/>
          <p:cNvSpPr/>
          <p:nvPr/>
        </p:nvSpPr>
        <p:spPr>
          <a:xfrm>
            <a:off x="3064549" y="2369664"/>
            <a:ext cx="1621985" cy="827756"/>
          </a:xfrm>
          <a:custGeom>
            <a:rect b="b" l="l" r="r" t="t"/>
            <a:pathLst>
              <a:path extrusionOk="0" h="1134830" w="2154823">
                <a:moveTo>
                  <a:pt x="1303975" y="0"/>
                </a:moveTo>
                <a:cubicBezTo>
                  <a:pt x="1524382" y="0"/>
                  <a:pt x="1707064" y="161518"/>
                  <a:pt x="1738536" y="372895"/>
                </a:cubicBezTo>
                <a:cubicBezTo>
                  <a:pt x="1749503" y="370002"/>
                  <a:pt x="1760774" y="369505"/>
                  <a:pt x="1772161" y="369505"/>
                </a:cubicBezTo>
                <a:cubicBezTo>
                  <a:pt x="1983499" y="369505"/>
                  <a:pt x="2154823" y="540829"/>
                  <a:pt x="2154823" y="752167"/>
                </a:cubicBezTo>
                <a:cubicBezTo>
                  <a:pt x="2154823" y="963505"/>
                  <a:pt x="1983499" y="1134829"/>
                  <a:pt x="1772161" y="1134829"/>
                </a:cubicBezTo>
                <a:lnTo>
                  <a:pt x="1765065" y="1134252"/>
                </a:lnTo>
                <a:cubicBezTo>
                  <a:pt x="1764130" y="1134809"/>
                  <a:pt x="1763168" y="1134830"/>
                  <a:pt x="1762200" y="1134830"/>
                </a:cubicBezTo>
                <a:lnTo>
                  <a:pt x="308458" y="1134830"/>
                </a:lnTo>
                <a:lnTo>
                  <a:pt x="290561" y="1131217"/>
                </a:lnTo>
                <a:cubicBezTo>
                  <a:pt x="278021" y="1133816"/>
                  <a:pt x="265070" y="1134829"/>
                  <a:pt x="251882" y="1134829"/>
                </a:cubicBezTo>
                <a:cubicBezTo>
                  <a:pt x="112771" y="1134829"/>
                  <a:pt x="0" y="1022058"/>
                  <a:pt x="0" y="882947"/>
                </a:cubicBezTo>
                <a:cubicBezTo>
                  <a:pt x="0" y="743836"/>
                  <a:pt x="112771" y="631065"/>
                  <a:pt x="251882" y="631065"/>
                </a:cubicBezTo>
                <a:cubicBezTo>
                  <a:pt x="273097" y="631065"/>
                  <a:pt x="293699" y="633688"/>
                  <a:pt x="313176" y="639451"/>
                </a:cubicBezTo>
                <a:cubicBezTo>
                  <a:pt x="308724" y="620089"/>
                  <a:pt x="307141" y="600023"/>
                  <a:pt x="307141" y="579587"/>
                </a:cubicBezTo>
                <a:cubicBezTo>
                  <a:pt x="307141" y="365660"/>
                  <a:pt x="480564" y="192237"/>
                  <a:pt x="694491" y="192237"/>
                </a:cubicBezTo>
                <a:cubicBezTo>
                  <a:pt x="772276" y="192237"/>
                  <a:pt x="844706" y="215165"/>
                  <a:pt x="905064" y="255135"/>
                </a:cubicBezTo>
                <a:cubicBezTo>
                  <a:pt x="974269" y="104188"/>
                  <a:pt x="1126955" y="0"/>
                  <a:pt x="1303975" y="0"/>
                </a:cubicBezTo>
                <a:close/>
              </a:path>
            </a:pathLst>
          </a:cu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B246B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9" name="Google Shape;529;p66"/>
          <p:cNvSpPr txBox="1"/>
          <p:nvPr/>
        </p:nvSpPr>
        <p:spPr>
          <a:xfrm>
            <a:off x="3576123" y="2739912"/>
            <a:ext cx="675185" cy="250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B246B"/>
                </a:solidFill>
                <a:latin typeface="Trebuchet MS"/>
                <a:ea typeface="Trebuchet MS"/>
                <a:cs typeface="Trebuchet MS"/>
                <a:sym typeface="Trebuchet MS"/>
              </a:rPr>
              <a:t>Internet</a:t>
            </a:r>
            <a:endParaRPr b="0" i="0" sz="1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30" name="Google Shape;530;p66"/>
          <p:cNvGrpSpPr/>
          <p:nvPr/>
        </p:nvGrpSpPr>
        <p:grpSpPr>
          <a:xfrm>
            <a:off x="1421369" y="1764639"/>
            <a:ext cx="570194" cy="570194"/>
            <a:chOff x="1531294" y="3742718"/>
            <a:chExt cx="570194" cy="570194"/>
          </a:xfrm>
        </p:grpSpPr>
        <p:pic>
          <p:nvPicPr>
            <p:cNvPr id="531" name="Google Shape;531;p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31294" y="3742718"/>
              <a:ext cx="570194" cy="5701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2" name="Google Shape;532;p66"/>
            <p:cNvSpPr/>
            <p:nvPr/>
          </p:nvSpPr>
          <p:spPr>
            <a:xfrm>
              <a:off x="1652760" y="3895530"/>
              <a:ext cx="309480" cy="23288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3" name="Google Shape;533;p66"/>
          <p:cNvPicPr preferRelativeResize="0"/>
          <p:nvPr/>
        </p:nvPicPr>
        <p:blipFill rotWithShape="1">
          <a:blip r:embed="rId4">
            <a:alphaModFix/>
          </a:blip>
          <a:srcRect b="48507" l="58279" r="16540" t="13087"/>
          <a:stretch/>
        </p:blipFill>
        <p:spPr>
          <a:xfrm>
            <a:off x="1542835" y="1927728"/>
            <a:ext cx="302816" cy="2099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4" name="Google Shape;534;p66"/>
          <p:cNvCxnSpPr/>
          <p:nvPr/>
        </p:nvCxnSpPr>
        <p:spPr>
          <a:xfrm>
            <a:off x="3160549" y="4560922"/>
            <a:ext cx="484870" cy="0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35" name="Google Shape;535;p66"/>
          <p:cNvCxnSpPr/>
          <p:nvPr/>
        </p:nvCxnSpPr>
        <p:spPr>
          <a:xfrm>
            <a:off x="3160549" y="4762957"/>
            <a:ext cx="484870" cy="0"/>
          </a:xfrm>
          <a:prstGeom prst="straightConnector1">
            <a:avLst/>
          </a:prstGeom>
          <a:noFill/>
          <a:ln cap="flat" cmpd="sng" w="127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36" name="Google Shape;536;p66"/>
          <p:cNvSpPr txBox="1"/>
          <p:nvPr/>
        </p:nvSpPr>
        <p:spPr>
          <a:xfrm>
            <a:off x="3658134" y="4662929"/>
            <a:ext cx="767927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Tunnel to SSE</a:t>
            </a:r>
            <a:endParaRPr/>
          </a:p>
        </p:txBody>
      </p:sp>
      <p:sp>
        <p:nvSpPr>
          <p:cNvPr id="537" name="Google Shape;537;p66"/>
          <p:cNvSpPr txBox="1"/>
          <p:nvPr/>
        </p:nvSpPr>
        <p:spPr>
          <a:xfrm>
            <a:off x="3557228" y="4458667"/>
            <a:ext cx="1037568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SDWAN Overlay</a:t>
            </a:r>
            <a:endParaRPr/>
          </a:p>
        </p:txBody>
      </p:sp>
      <p:grpSp>
        <p:nvGrpSpPr>
          <p:cNvPr id="538" name="Google Shape;538;p66"/>
          <p:cNvGrpSpPr/>
          <p:nvPr/>
        </p:nvGrpSpPr>
        <p:grpSpPr>
          <a:xfrm>
            <a:off x="3817704" y="1984247"/>
            <a:ext cx="1133212" cy="578318"/>
            <a:chOff x="5958349" y="2061487"/>
            <a:chExt cx="1133212" cy="578318"/>
          </a:xfrm>
        </p:grpSpPr>
        <p:sp>
          <p:nvSpPr>
            <p:cNvPr id="539" name="Google Shape;539;p66"/>
            <p:cNvSpPr/>
            <p:nvPr/>
          </p:nvSpPr>
          <p:spPr>
            <a:xfrm>
              <a:off x="5958349" y="2061487"/>
              <a:ext cx="1133212" cy="578318"/>
            </a:xfrm>
            <a:custGeom>
              <a:rect b="b" l="l" r="r" t="t"/>
              <a:pathLst>
                <a:path extrusionOk="0" h="1134830" w="2154823">
                  <a:moveTo>
                    <a:pt x="1303975" y="0"/>
                  </a:moveTo>
                  <a:cubicBezTo>
                    <a:pt x="1524382" y="0"/>
                    <a:pt x="1707064" y="161518"/>
                    <a:pt x="1738536" y="372895"/>
                  </a:cubicBezTo>
                  <a:cubicBezTo>
                    <a:pt x="1749503" y="370002"/>
                    <a:pt x="1760774" y="369505"/>
                    <a:pt x="1772161" y="369505"/>
                  </a:cubicBezTo>
                  <a:cubicBezTo>
                    <a:pt x="1983499" y="369505"/>
                    <a:pt x="2154823" y="540829"/>
                    <a:pt x="2154823" y="752167"/>
                  </a:cubicBezTo>
                  <a:cubicBezTo>
                    <a:pt x="2154823" y="963505"/>
                    <a:pt x="1983499" y="1134829"/>
                    <a:pt x="1772161" y="1134829"/>
                  </a:cubicBezTo>
                  <a:lnTo>
                    <a:pt x="1765065" y="1134252"/>
                  </a:lnTo>
                  <a:cubicBezTo>
                    <a:pt x="1764130" y="1134809"/>
                    <a:pt x="1763168" y="1134830"/>
                    <a:pt x="1762200" y="1134830"/>
                  </a:cubicBezTo>
                  <a:lnTo>
                    <a:pt x="308458" y="1134830"/>
                  </a:lnTo>
                  <a:lnTo>
                    <a:pt x="290561" y="1131217"/>
                  </a:lnTo>
                  <a:cubicBezTo>
                    <a:pt x="278021" y="1133816"/>
                    <a:pt x="265070" y="1134829"/>
                    <a:pt x="251882" y="1134829"/>
                  </a:cubicBezTo>
                  <a:cubicBezTo>
                    <a:pt x="112771" y="1134829"/>
                    <a:pt x="0" y="1022058"/>
                    <a:pt x="0" y="882947"/>
                  </a:cubicBezTo>
                  <a:cubicBezTo>
                    <a:pt x="0" y="743836"/>
                    <a:pt x="112771" y="631065"/>
                    <a:pt x="251882" y="631065"/>
                  </a:cubicBezTo>
                  <a:cubicBezTo>
                    <a:pt x="273097" y="631065"/>
                    <a:pt x="293699" y="633688"/>
                    <a:pt x="313176" y="639451"/>
                  </a:cubicBezTo>
                  <a:cubicBezTo>
                    <a:pt x="308724" y="620089"/>
                    <a:pt x="307141" y="600023"/>
                    <a:pt x="307141" y="579587"/>
                  </a:cubicBezTo>
                  <a:cubicBezTo>
                    <a:pt x="307141" y="365660"/>
                    <a:pt x="480564" y="192237"/>
                    <a:pt x="694491" y="192237"/>
                  </a:cubicBezTo>
                  <a:cubicBezTo>
                    <a:pt x="772276" y="192237"/>
                    <a:pt x="844706" y="215165"/>
                    <a:pt x="905064" y="255135"/>
                  </a:cubicBezTo>
                  <a:cubicBezTo>
                    <a:pt x="974269" y="104188"/>
                    <a:pt x="1126955" y="0"/>
                    <a:pt x="130397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158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r" dir="8100000" dist="25400">
                <a:srgbClr val="000000">
                  <a:alpha val="40000"/>
                </a:srgbClr>
              </a:outerShdw>
            </a:effectLst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0B2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NewEdge</a:t>
              </a:r>
              <a:endParaRPr b="1" i="0" sz="800" u="none" cap="none" strike="noStrike">
                <a:solidFill>
                  <a:srgbClr val="0B246B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pic>
          <p:nvPicPr>
            <p:cNvPr descr="NET_horizontal_fullcolor.png" id="540" name="Google Shape;540;p6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70162" y="2273811"/>
              <a:ext cx="335703" cy="1831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sp>
        <p:nvSpPr>
          <p:cNvPr id="541" name="Google Shape;541;p66"/>
          <p:cNvSpPr txBox="1"/>
          <p:nvPr/>
        </p:nvSpPr>
        <p:spPr>
          <a:xfrm>
            <a:off x="1163488" y="2434687"/>
            <a:ext cx="1061509" cy="219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bwanif 10.88.88.77</a:t>
            </a:r>
            <a:endParaRPr/>
          </a:p>
        </p:txBody>
      </p:sp>
      <p:pic>
        <p:nvPicPr>
          <p:cNvPr id="542" name="Google Shape;542;p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03857" y="2600994"/>
            <a:ext cx="529410" cy="529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66"/>
          <p:cNvPicPr preferRelativeResize="0"/>
          <p:nvPr/>
        </p:nvPicPr>
        <p:blipFill rotWithShape="1">
          <a:blip r:embed="rId4">
            <a:alphaModFix/>
          </a:blip>
          <a:srcRect b="48507" l="58279" r="16540" t="13087"/>
          <a:stretch/>
        </p:blipFill>
        <p:spPr>
          <a:xfrm>
            <a:off x="6199125" y="2974130"/>
            <a:ext cx="138873" cy="96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4" name="Google Shape;544;p66"/>
          <p:cNvCxnSpPr>
            <a:stCxn id="542" idx="3"/>
            <a:endCxn id="545" idx="1"/>
          </p:cNvCxnSpPr>
          <p:nvPr/>
        </p:nvCxnSpPr>
        <p:spPr>
          <a:xfrm>
            <a:off x="6533267" y="2865699"/>
            <a:ext cx="381000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45" name="Google Shape;545;p6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14201" y="2719112"/>
            <a:ext cx="276225" cy="293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6" name="Google Shape;546;p66"/>
          <p:cNvCxnSpPr/>
          <p:nvPr/>
        </p:nvCxnSpPr>
        <p:spPr>
          <a:xfrm>
            <a:off x="7190426" y="2875390"/>
            <a:ext cx="419027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7" name="Google Shape;547;p66"/>
          <p:cNvSpPr txBox="1"/>
          <p:nvPr/>
        </p:nvSpPr>
        <p:spPr>
          <a:xfrm>
            <a:off x="5875379" y="3139237"/>
            <a:ext cx="806459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SDWAN Hub 1</a:t>
            </a:r>
            <a:endParaRPr/>
          </a:p>
        </p:txBody>
      </p:sp>
      <p:sp>
        <p:nvSpPr>
          <p:cNvPr id="548" name="Google Shape;548;p66"/>
          <p:cNvSpPr txBox="1"/>
          <p:nvPr/>
        </p:nvSpPr>
        <p:spPr>
          <a:xfrm>
            <a:off x="6222911" y="2407306"/>
            <a:ext cx="1568058" cy="219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  BWAN HUB &lt;-- 10.88.88.0/24</a:t>
            </a:r>
            <a:endParaRPr/>
          </a:p>
        </p:txBody>
      </p:sp>
      <p:pic>
        <p:nvPicPr>
          <p:cNvPr id="549" name="Google Shape;549;p6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17202" y="2618825"/>
            <a:ext cx="375067" cy="135887"/>
          </a:xfrm>
          <a:prstGeom prst="rect">
            <a:avLst/>
          </a:prstGeom>
          <a:solidFill>
            <a:srgbClr val="FFC000">
              <a:alpha val="12549"/>
            </a:srgbClr>
          </a:solidFill>
          <a:ln>
            <a:noFill/>
          </a:ln>
        </p:spPr>
      </p:pic>
      <p:pic>
        <p:nvPicPr>
          <p:cNvPr id="550" name="Google Shape;550;p6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17202" y="2797756"/>
            <a:ext cx="375067" cy="135887"/>
          </a:xfrm>
          <a:prstGeom prst="rect">
            <a:avLst/>
          </a:prstGeom>
          <a:solidFill>
            <a:srgbClr val="FFC000">
              <a:alpha val="12549"/>
            </a:srgbClr>
          </a:solidFill>
          <a:ln>
            <a:noFill/>
          </a:ln>
        </p:spPr>
      </p:pic>
      <p:pic>
        <p:nvPicPr>
          <p:cNvPr id="551" name="Google Shape;551;p6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17202" y="2962139"/>
            <a:ext cx="375067" cy="135887"/>
          </a:xfrm>
          <a:prstGeom prst="rect">
            <a:avLst/>
          </a:prstGeom>
          <a:solidFill>
            <a:srgbClr val="FFC000">
              <a:alpha val="12549"/>
            </a:srgbClr>
          </a:solidFill>
          <a:ln>
            <a:noFill/>
          </a:ln>
        </p:spPr>
      </p:pic>
      <p:sp>
        <p:nvSpPr>
          <p:cNvPr id="552" name="Google Shape;552;p66"/>
          <p:cNvSpPr txBox="1"/>
          <p:nvPr/>
        </p:nvSpPr>
        <p:spPr>
          <a:xfrm>
            <a:off x="7464434" y="3090416"/>
            <a:ext cx="68060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Applications</a:t>
            </a:r>
            <a:endParaRPr/>
          </a:p>
        </p:txBody>
      </p:sp>
      <p:pic>
        <p:nvPicPr>
          <p:cNvPr descr="A picture containing light&#10;&#10;Description automatically generated" id="553" name="Google Shape;553;p6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759781" y="646177"/>
            <a:ext cx="1491527" cy="998851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66"/>
          <p:cNvSpPr txBox="1"/>
          <p:nvPr/>
        </p:nvSpPr>
        <p:spPr>
          <a:xfrm>
            <a:off x="2925961" y="1212934"/>
            <a:ext cx="6897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5BD"/>
              </a:buClr>
              <a:buSzPts val="800"/>
              <a:buFont typeface="Arial"/>
              <a:buNone/>
            </a:pPr>
            <a:r>
              <a:rPr b="0" i="0" lang="en-US" sz="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SASE Orchestrator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559"/>
              </a:buClr>
              <a:buSzPts val="8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66"/>
          <p:cNvSpPr txBox="1"/>
          <p:nvPr/>
        </p:nvSpPr>
        <p:spPr>
          <a:xfrm>
            <a:off x="3426194" y="1212940"/>
            <a:ext cx="587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5BD"/>
              </a:buClr>
              <a:buSzPts val="800"/>
              <a:buFont typeface="Arial"/>
              <a:buNone/>
            </a:pPr>
            <a:r>
              <a:rPr b="0" i="0" lang="en-US" sz="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SASE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5BD"/>
              </a:buClr>
              <a:buSzPts val="800"/>
              <a:buFont typeface="Arial"/>
              <a:buNone/>
            </a:pPr>
            <a:r>
              <a:rPr b="0" i="0" lang="en-US" sz="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Controller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15559"/>
              </a:buClr>
              <a:buSzPts val="8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56" name="Google Shape;556;p6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03051" y="1042839"/>
            <a:ext cx="233675" cy="203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6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47381" y="1042839"/>
            <a:ext cx="233675" cy="203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8" name="Google Shape;558;p66"/>
          <p:cNvCxnSpPr/>
          <p:nvPr/>
        </p:nvCxnSpPr>
        <p:spPr>
          <a:xfrm>
            <a:off x="3151033" y="4360558"/>
            <a:ext cx="484870" cy="0"/>
          </a:xfrm>
          <a:prstGeom prst="straightConnector1">
            <a:avLst/>
          </a:prstGeom>
          <a:noFill/>
          <a:ln cap="flat" cmpd="sng" w="12700">
            <a:solidFill>
              <a:srgbClr val="2A2B2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59" name="Google Shape;559;p66"/>
          <p:cNvSpPr txBox="1"/>
          <p:nvPr/>
        </p:nvSpPr>
        <p:spPr>
          <a:xfrm>
            <a:off x="3618017" y="4258860"/>
            <a:ext cx="1501815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Management Plane Connection</a:t>
            </a:r>
            <a:endParaRPr/>
          </a:p>
        </p:txBody>
      </p:sp>
      <p:cxnSp>
        <p:nvCxnSpPr>
          <p:cNvPr id="560" name="Google Shape;560;p66"/>
          <p:cNvCxnSpPr>
            <a:endCxn id="542" idx="1"/>
          </p:cNvCxnSpPr>
          <p:nvPr/>
        </p:nvCxnSpPr>
        <p:spPr>
          <a:xfrm>
            <a:off x="4686557" y="2865699"/>
            <a:ext cx="1317300" cy="0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1" name="Google Shape;561;p66"/>
          <p:cNvSpPr txBox="1"/>
          <p:nvPr/>
        </p:nvSpPr>
        <p:spPr>
          <a:xfrm>
            <a:off x="1097789" y="4015096"/>
            <a:ext cx="1195181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User 2</a:t>
            </a:r>
            <a:endParaRPr/>
          </a:p>
        </p:txBody>
      </p:sp>
      <p:grpSp>
        <p:nvGrpSpPr>
          <p:cNvPr id="562" name="Google Shape;562;p66"/>
          <p:cNvGrpSpPr/>
          <p:nvPr/>
        </p:nvGrpSpPr>
        <p:grpSpPr>
          <a:xfrm>
            <a:off x="1421369" y="3507713"/>
            <a:ext cx="570194" cy="570194"/>
            <a:chOff x="1531294" y="3742718"/>
            <a:chExt cx="570194" cy="570194"/>
          </a:xfrm>
        </p:grpSpPr>
        <p:pic>
          <p:nvPicPr>
            <p:cNvPr id="563" name="Google Shape;563;p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31294" y="3742718"/>
              <a:ext cx="570194" cy="5701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4" name="Google Shape;564;p66"/>
            <p:cNvSpPr/>
            <p:nvPr/>
          </p:nvSpPr>
          <p:spPr>
            <a:xfrm>
              <a:off x="1652760" y="3895530"/>
              <a:ext cx="309480" cy="23288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65" name="Google Shape;565;p66"/>
          <p:cNvPicPr preferRelativeResize="0"/>
          <p:nvPr/>
        </p:nvPicPr>
        <p:blipFill rotWithShape="1">
          <a:blip r:embed="rId4">
            <a:alphaModFix/>
          </a:blip>
          <a:srcRect b="48507" l="58279" r="16540" t="13087"/>
          <a:stretch/>
        </p:blipFill>
        <p:spPr>
          <a:xfrm>
            <a:off x="1542835" y="3670802"/>
            <a:ext cx="302816" cy="209904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66"/>
          <p:cNvSpPr txBox="1"/>
          <p:nvPr/>
        </p:nvSpPr>
        <p:spPr>
          <a:xfrm>
            <a:off x="1163488" y="4177761"/>
            <a:ext cx="1061509" cy="219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bwanif 10.88.88.64</a:t>
            </a:r>
            <a:endParaRPr/>
          </a:p>
        </p:txBody>
      </p:sp>
      <p:cxnSp>
        <p:nvCxnSpPr>
          <p:cNvPr id="567" name="Google Shape;567;p66"/>
          <p:cNvCxnSpPr/>
          <p:nvPr/>
        </p:nvCxnSpPr>
        <p:spPr>
          <a:xfrm>
            <a:off x="1991563" y="2043485"/>
            <a:ext cx="1340100" cy="6108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8" name="Google Shape;568;p66"/>
          <p:cNvCxnSpPr>
            <a:stCxn id="563" idx="3"/>
          </p:cNvCxnSpPr>
          <p:nvPr/>
        </p:nvCxnSpPr>
        <p:spPr>
          <a:xfrm flipH="1" rot="10800000">
            <a:off x="1991563" y="3104610"/>
            <a:ext cx="1095600" cy="688200"/>
          </a:xfrm>
          <a:prstGeom prst="bentConnector3">
            <a:avLst>
              <a:gd fmla="val 60881" name="adj1"/>
            </a:avLst>
          </a:prstGeom>
          <a:noFill/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9" name="Google Shape;569;p66"/>
          <p:cNvSpPr/>
          <p:nvPr/>
        </p:nvSpPr>
        <p:spPr>
          <a:xfrm>
            <a:off x="2027583" y="2108822"/>
            <a:ext cx="3975652" cy="690037"/>
          </a:xfrm>
          <a:custGeom>
            <a:rect b="b" l="l" r="r" t="t"/>
            <a:pathLst>
              <a:path extrusionOk="0" h="690037" w="3975652">
                <a:moveTo>
                  <a:pt x="0" y="6224"/>
                </a:moveTo>
                <a:cubicBezTo>
                  <a:pt x="192156" y="-3715"/>
                  <a:pt x="384313" y="-13654"/>
                  <a:pt x="477078" y="77786"/>
                </a:cubicBezTo>
                <a:cubicBezTo>
                  <a:pt x="569843" y="169226"/>
                  <a:pt x="443948" y="460774"/>
                  <a:pt x="556591" y="554864"/>
                </a:cubicBezTo>
                <a:cubicBezTo>
                  <a:pt x="669235" y="648955"/>
                  <a:pt x="583096" y="619800"/>
                  <a:pt x="1152939" y="642329"/>
                </a:cubicBezTo>
                <a:cubicBezTo>
                  <a:pt x="1722783" y="664858"/>
                  <a:pt x="2849217" y="677447"/>
                  <a:pt x="3975652" y="690037"/>
                </a:cubicBezTo>
              </a:path>
            </a:pathLst>
          </a:custGeom>
          <a:noFill/>
          <a:ln cap="flat" cmpd="sng" w="12700">
            <a:solidFill>
              <a:srgbClr val="00B05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66"/>
          <p:cNvSpPr/>
          <p:nvPr/>
        </p:nvSpPr>
        <p:spPr>
          <a:xfrm flipH="1" rot="10800000">
            <a:off x="1991563" y="2960070"/>
            <a:ext cx="3975652" cy="748238"/>
          </a:xfrm>
          <a:custGeom>
            <a:rect b="b" l="l" r="r" t="t"/>
            <a:pathLst>
              <a:path extrusionOk="0" h="690037" w="3975652">
                <a:moveTo>
                  <a:pt x="0" y="6224"/>
                </a:moveTo>
                <a:cubicBezTo>
                  <a:pt x="192156" y="-3715"/>
                  <a:pt x="384313" y="-13654"/>
                  <a:pt x="477078" y="77786"/>
                </a:cubicBezTo>
                <a:cubicBezTo>
                  <a:pt x="569843" y="169226"/>
                  <a:pt x="443948" y="460774"/>
                  <a:pt x="556591" y="554864"/>
                </a:cubicBezTo>
                <a:cubicBezTo>
                  <a:pt x="669235" y="648955"/>
                  <a:pt x="583096" y="619800"/>
                  <a:pt x="1152939" y="642329"/>
                </a:cubicBezTo>
                <a:cubicBezTo>
                  <a:pt x="1722783" y="664858"/>
                  <a:pt x="2849217" y="677447"/>
                  <a:pt x="3975652" y="690037"/>
                </a:cubicBezTo>
              </a:path>
            </a:pathLst>
          </a:custGeom>
          <a:noFill/>
          <a:ln cap="flat" cmpd="sng" w="12700">
            <a:solidFill>
              <a:srgbClr val="00B05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1" name="Google Shape;571;p66"/>
          <p:cNvCxnSpPr>
            <a:stCxn id="554" idx="1"/>
            <a:endCxn id="531" idx="1"/>
          </p:cNvCxnSpPr>
          <p:nvPr/>
        </p:nvCxnSpPr>
        <p:spPr>
          <a:xfrm flipH="1">
            <a:off x="1421461" y="1348984"/>
            <a:ext cx="1504500" cy="700800"/>
          </a:xfrm>
          <a:prstGeom prst="bentConnector3">
            <a:avLst>
              <a:gd fmla="val 115200" name="adj1"/>
            </a:avLst>
          </a:prstGeom>
          <a:noFill/>
          <a:ln cap="flat" cmpd="sng" w="9525">
            <a:solidFill>
              <a:srgbClr val="2A2B2D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72" name="Google Shape;572;p66"/>
          <p:cNvCxnSpPr>
            <a:endCxn id="563" idx="1"/>
          </p:cNvCxnSpPr>
          <p:nvPr/>
        </p:nvCxnSpPr>
        <p:spPr>
          <a:xfrm rot="5400000">
            <a:off x="879119" y="1755060"/>
            <a:ext cx="2580000" cy="1495500"/>
          </a:xfrm>
          <a:prstGeom prst="bentConnector4">
            <a:avLst>
              <a:gd fmla="val -210" name="adj1"/>
              <a:gd fmla="val 124325" name="adj2"/>
            </a:avLst>
          </a:prstGeom>
          <a:noFill/>
          <a:ln cap="flat" cmpd="sng" w="9525">
            <a:solidFill>
              <a:srgbClr val="2A2B2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73" name="Google Shape;573;p66"/>
          <p:cNvSpPr/>
          <p:nvPr/>
        </p:nvSpPr>
        <p:spPr>
          <a:xfrm>
            <a:off x="1995778" y="1987826"/>
            <a:ext cx="4335502" cy="1930196"/>
          </a:xfrm>
          <a:custGeom>
            <a:rect b="b" l="l" r="r" t="t"/>
            <a:pathLst>
              <a:path extrusionOk="0" h="1930196" w="4335502">
                <a:moveTo>
                  <a:pt x="0" y="1892410"/>
                </a:moveTo>
                <a:cubicBezTo>
                  <a:pt x="316727" y="1929516"/>
                  <a:pt x="633454" y="1966622"/>
                  <a:pt x="771276" y="1860605"/>
                </a:cubicBezTo>
                <a:cubicBezTo>
                  <a:pt x="909098" y="1754588"/>
                  <a:pt x="682486" y="1383527"/>
                  <a:pt x="826935" y="1256306"/>
                </a:cubicBezTo>
                <a:cubicBezTo>
                  <a:pt x="971384" y="1129085"/>
                  <a:pt x="1099930" y="1126435"/>
                  <a:pt x="1637968" y="1097280"/>
                </a:cubicBezTo>
                <a:cubicBezTo>
                  <a:pt x="2176006" y="1068125"/>
                  <a:pt x="3632421" y="1143662"/>
                  <a:pt x="4055165" y="1081377"/>
                </a:cubicBezTo>
                <a:cubicBezTo>
                  <a:pt x="4477909" y="1019092"/>
                  <a:pt x="4340086" y="785853"/>
                  <a:pt x="4174434" y="723568"/>
                </a:cubicBezTo>
                <a:cubicBezTo>
                  <a:pt x="4008782" y="661283"/>
                  <a:pt x="3061252" y="707666"/>
                  <a:pt x="3061252" y="707666"/>
                </a:cubicBezTo>
                <a:cubicBezTo>
                  <a:pt x="2511287" y="690438"/>
                  <a:pt x="1264257" y="711641"/>
                  <a:pt x="874643" y="620201"/>
                </a:cubicBezTo>
                <a:cubicBezTo>
                  <a:pt x="485029" y="528761"/>
                  <a:pt x="868017" y="262393"/>
                  <a:pt x="723568" y="159026"/>
                </a:cubicBezTo>
                <a:cubicBezTo>
                  <a:pt x="579119" y="55659"/>
                  <a:pt x="293535" y="27829"/>
                  <a:pt x="7951" y="0"/>
                </a:cubicBezTo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4" name="Google Shape;574;p66"/>
          <p:cNvCxnSpPr/>
          <p:nvPr/>
        </p:nvCxnSpPr>
        <p:spPr>
          <a:xfrm>
            <a:off x="3147834" y="4964991"/>
            <a:ext cx="484870" cy="0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5" name="Google Shape;575;p66"/>
          <p:cNvSpPr txBox="1"/>
          <p:nvPr/>
        </p:nvSpPr>
        <p:spPr>
          <a:xfrm>
            <a:off x="3645419" y="4864963"/>
            <a:ext cx="1678505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B246B"/>
                </a:solidFill>
                <a:latin typeface="Arial"/>
                <a:ea typeface="Arial"/>
                <a:cs typeface="Arial"/>
                <a:sym typeface="Arial"/>
              </a:rPr>
              <a:t>RDP connection, Client 1 to Client 2</a:t>
            </a:r>
            <a:endParaRPr/>
          </a:p>
        </p:txBody>
      </p:sp>
      <p:cxnSp>
        <p:nvCxnSpPr>
          <p:cNvPr id="576" name="Google Shape;576;p66"/>
          <p:cNvCxnSpPr>
            <a:stCxn id="577" idx="3"/>
          </p:cNvCxnSpPr>
          <p:nvPr/>
        </p:nvCxnSpPr>
        <p:spPr>
          <a:xfrm rot="10800000">
            <a:off x="6483857" y="3351050"/>
            <a:ext cx="1012800" cy="801600"/>
          </a:xfrm>
          <a:prstGeom prst="straightConnector1">
            <a:avLst/>
          </a:prstGeom>
          <a:noFill/>
          <a:ln cap="flat" cmpd="sng" w="12700">
            <a:solidFill>
              <a:srgbClr val="FF82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8" name="Google Shape;578;p66"/>
          <p:cNvCxnSpPr>
            <a:stCxn id="577" idx="1"/>
          </p:cNvCxnSpPr>
          <p:nvPr/>
        </p:nvCxnSpPr>
        <p:spPr>
          <a:xfrm flipH="1" rot="10800000">
            <a:off x="5381234" y="3368150"/>
            <a:ext cx="697500" cy="784500"/>
          </a:xfrm>
          <a:prstGeom prst="straightConnector1">
            <a:avLst/>
          </a:prstGeom>
          <a:noFill/>
          <a:ln cap="flat" cmpd="sng" w="12700">
            <a:solidFill>
              <a:srgbClr val="FF82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9" name="Google Shape;579;p66"/>
          <p:cNvSpPr txBox="1"/>
          <p:nvPr/>
        </p:nvSpPr>
        <p:spPr>
          <a:xfrm>
            <a:off x="5811411" y="3232527"/>
            <a:ext cx="9384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8200"/>
                </a:solidFill>
                <a:latin typeface="Arial"/>
                <a:ea typeface="Arial"/>
                <a:cs typeface="Arial"/>
                <a:sym typeface="Arial"/>
              </a:rPr>
              <a:t>Policy</a:t>
            </a:r>
            <a:endParaRPr b="0" i="0" sz="900" u="none" cap="none" strike="noStrike">
              <a:solidFill>
                <a:srgbClr val="FF82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66"/>
          <p:cNvSpPr txBox="1"/>
          <p:nvPr/>
        </p:nvSpPr>
        <p:spPr>
          <a:xfrm>
            <a:off x="5381234" y="4081443"/>
            <a:ext cx="2115423" cy="1424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5565A"/>
                </a:solidFill>
                <a:latin typeface="Arial"/>
                <a:ea typeface="Arial"/>
                <a:cs typeface="Arial"/>
                <a:sym typeface="Arial"/>
              </a:rPr>
              <a:t>User Group 1 can connect to each other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66"/>
          <p:cNvSpPr txBox="1"/>
          <p:nvPr>
            <p:ph type="title"/>
          </p:nvPr>
        </p:nvSpPr>
        <p:spPr>
          <a:xfrm>
            <a:off x="457006" y="345553"/>
            <a:ext cx="80429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Use cases - UC 5: Client to Client communication</a:t>
            </a:r>
            <a:endParaRPr/>
          </a:p>
        </p:txBody>
      </p:sp>
      <p:sp>
        <p:nvSpPr>
          <p:cNvPr id="581" name="Google Shape;581;p66"/>
          <p:cNvSpPr/>
          <p:nvPr/>
        </p:nvSpPr>
        <p:spPr>
          <a:xfrm>
            <a:off x="0" y="0"/>
            <a:ext cx="1665300" cy="271500"/>
          </a:xfrm>
          <a:prstGeom prst="homePlate">
            <a:avLst>
              <a:gd fmla="val 50000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Agreement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2" name="Google Shape;582;p66"/>
          <p:cNvSpPr/>
          <p:nvPr/>
        </p:nvSpPr>
        <p:spPr>
          <a:xfrm>
            <a:off x="1747575" y="0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Pre-Deployment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3" name="Google Shape;583;p66"/>
          <p:cNvSpPr/>
          <p:nvPr/>
        </p:nvSpPr>
        <p:spPr>
          <a:xfrm>
            <a:off x="361725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b="0" i="0" sz="12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4" name="Google Shape;584;p66"/>
          <p:cNvSpPr/>
          <p:nvPr/>
        </p:nvSpPr>
        <p:spPr>
          <a:xfrm>
            <a:off x="5486925" y="-1"/>
            <a:ext cx="1787400" cy="271500"/>
          </a:xfrm>
          <a:prstGeom prst="chevron">
            <a:avLst>
              <a:gd fmla="val 50000" name="adj"/>
            </a:avLst>
          </a:prstGeom>
          <a:solidFill>
            <a:srgbClr val="9DE2E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Results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" name="Google Shape;585;p66"/>
          <p:cNvSpPr/>
          <p:nvPr/>
        </p:nvSpPr>
        <p:spPr>
          <a:xfrm>
            <a:off x="735660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4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Conclusion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7"/>
          <p:cNvSpPr txBox="1"/>
          <p:nvPr>
            <p:ph type="title"/>
          </p:nvPr>
        </p:nvSpPr>
        <p:spPr>
          <a:xfrm>
            <a:off x="457006" y="345553"/>
            <a:ext cx="8042938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Use cases - UC 6: User Re-Authentication for application access</a:t>
            </a:r>
            <a:endParaRPr/>
          </a:p>
        </p:txBody>
      </p:sp>
      <p:sp>
        <p:nvSpPr>
          <p:cNvPr id="591" name="Google Shape;591;p67"/>
          <p:cNvSpPr/>
          <p:nvPr/>
        </p:nvSpPr>
        <p:spPr>
          <a:xfrm>
            <a:off x="0" y="0"/>
            <a:ext cx="1665300" cy="271500"/>
          </a:xfrm>
          <a:prstGeom prst="homePlate">
            <a:avLst>
              <a:gd fmla="val 50000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Agreement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Google Shape;592;p67"/>
          <p:cNvSpPr/>
          <p:nvPr/>
        </p:nvSpPr>
        <p:spPr>
          <a:xfrm>
            <a:off x="1747575" y="0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Pre-Deployment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Google Shape;593;p67"/>
          <p:cNvSpPr/>
          <p:nvPr/>
        </p:nvSpPr>
        <p:spPr>
          <a:xfrm>
            <a:off x="361725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b="0" i="0" sz="12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67"/>
          <p:cNvSpPr/>
          <p:nvPr/>
        </p:nvSpPr>
        <p:spPr>
          <a:xfrm>
            <a:off x="5486925" y="-1"/>
            <a:ext cx="1787400" cy="271500"/>
          </a:xfrm>
          <a:prstGeom prst="chevron">
            <a:avLst>
              <a:gd fmla="val 50000" name="adj"/>
            </a:avLst>
          </a:prstGeom>
          <a:solidFill>
            <a:srgbClr val="9DE2E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Results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5" name="Google Shape;595;p67"/>
          <p:cNvSpPr/>
          <p:nvPr/>
        </p:nvSpPr>
        <p:spPr>
          <a:xfrm>
            <a:off x="735660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4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Conclusion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96" name="Google Shape;596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4438" y="887371"/>
            <a:ext cx="4480560" cy="1684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1241" y="2731629"/>
            <a:ext cx="5399434" cy="1886341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67"/>
          <p:cNvSpPr/>
          <p:nvPr/>
        </p:nvSpPr>
        <p:spPr>
          <a:xfrm>
            <a:off x="1761241" y="2977763"/>
            <a:ext cx="1547026" cy="1615607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8"/>
          <p:cNvSpPr txBox="1"/>
          <p:nvPr>
            <p:ph type="title"/>
          </p:nvPr>
        </p:nvSpPr>
        <p:spPr>
          <a:xfrm>
            <a:off x="457006" y="345553"/>
            <a:ext cx="80429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Use cases - UC 7: Monitoring &amp; Analytics</a:t>
            </a:r>
            <a:endParaRPr/>
          </a:p>
        </p:txBody>
      </p:sp>
      <p:sp>
        <p:nvSpPr>
          <p:cNvPr id="604" name="Google Shape;604;p68"/>
          <p:cNvSpPr/>
          <p:nvPr/>
        </p:nvSpPr>
        <p:spPr>
          <a:xfrm>
            <a:off x="0" y="0"/>
            <a:ext cx="1665300" cy="271500"/>
          </a:xfrm>
          <a:prstGeom prst="homePlate">
            <a:avLst>
              <a:gd fmla="val 50000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Agreement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5" name="Google Shape;605;p68"/>
          <p:cNvSpPr/>
          <p:nvPr/>
        </p:nvSpPr>
        <p:spPr>
          <a:xfrm>
            <a:off x="1747575" y="0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Pre-Deployment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p68"/>
          <p:cNvSpPr/>
          <p:nvPr/>
        </p:nvSpPr>
        <p:spPr>
          <a:xfrm>
            <a:off x="361725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A2B2D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b="0" i="0" sz="1200" u="none" cap="none" strike="noStrike">
              <a:solidFill>
                <a:srgbClr val="2A2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68"/>
          <p:cNvSpPr/>
          <p:nvPr/>
        </p:nvSpPr>
        <p:spPr>
          <a:xfrm>
            <a:off x="5486925" y="-1"/>
            <a:ext cx="1787400" cy="271500"/>
          </a:xfrm>
          <a:prstGeom prst="chevron">
            <a:avLst>
              <a:gd fmla="val 50000" name="adj"/>
            </a:avLst>
          </a:prstGeom>
          <a:solidFill>
            <a:srgbClr val="9DE2E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Results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68"/>
          <p:cNvSpPr/>
          <p:nvPr/>
        </p:nvSpPr>
        <p:spPr>
          <a:xfrm>
            <a:off x="735660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4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Conclusion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A screen shot of a graph&#10;&#10;Description automatically generated" id="609" name="Google Shape;609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325" y="1205917"/>
            <a:ext cx="3344023" cy="13001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graph&#10;&#10;Description automatically generated" id="610" name="Google Shape;610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6056" y="1110502"/>
            <a:ext cx="3164619" cy="1469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1701" y="3123374"/>
            <a:ext cx="2930840" cy="1385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40713" y="3123374"/>
            <a:ext cx="3093019" cy="1385016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68"/>
          <p:cNvSpPr txBox="1"/>
          <p:nvPr/>
        </p:nvSpPr>
        <p:spPr>
          <a:xfrm>
            <a:off x="6297433" y="2850132"/>
            <a:ext cx="1239442" cy="251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Transactions View</a:t>
            </a:r>
            <a:endParaRPr/>
          </a:p>
        </p:txBody>
      </p:sp>
      <p:sp>
        <p:nvSpPr>
          <p:cNvPr id="614" name="Google Shape;614;p68"/>
          <p:cNvSpPr txBox="1"/>
          <p:nvPr/>
        </p:nvSpPr>
        <p:spPr>
          <a:xfrm>
            <a:off x="1461226" y="2850131"/>
            <a:ext cx="1851789" cy="251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Applications and Flow details</a:t>
            </a:r>
            <a:endParaRPr/>
          </a:p>
        </p:txBody>
      </p:sp>
      <p:sp>
        <p:nvSpPr>
          <p:cNvPr id="615" name="Google Shape;615;p68"/>
          <p:cNvSpPr txBox="1"/>
          <p:nvPr/>
        </p:nvSpPr>
        <p:spPr>
          <a:xfrm>
            <a:off x="1747575" y="908199"/>
            <a:ext cx="1124026" cy="251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WAN monitoring</a:t>
            </a:r>
            <a:endParaRPr/>
          </a:p>
        </p:txBody>
      </p:sp>
      <p:sp>
        <p:nvSpPr>
          <p:cNvPr id="616" name="Google Shape;616;p68"/>
          <p:cNvSpPr txBox="1"/>
          <p:nvPr/>
        </p:nvSpPr>
        <p:spPr>
          <a:xfrm>
            <a:off x="6156985" y="782523"/>
            <a:ext cx="1713931" cy="251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Processes and flow details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9"/>
          <p:cNvSpPr txBox="1"/>
          <p:nvPr>
            <p:ph type="title"/>
          </p:nvPr>
        </p:nvSpPr>
        <p:spPr>
          <a:xfrm>
            <a:off x="457006" y="345553"/>
            <a:ext cx="8232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PoV results</a:t>
            </a:r>
            <a:endParaRPr/>
          </a:p>
        </p:txBody>
      </p:sp>
      <p:sp>
        <p:nvSpPr>
          <p:cNvPr id="622" name="Google Shape;622;p69"/>
          <p:cNvSpPr/>
          <p:nvPr/>
        </p:nvSpPr>
        <p:spPr>
          <a:xfrm>
            <a:off x="0" y="0"/>
            <a:ext cx="1665300" cy="271500"/>
          </a:xfrm>
          <a:prstGeom prst="homePlate">
            <a:avLst>
              <a:gd fmla="val 50000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Agreement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3" name="Google Shape;623;p69"/>
          <p:cNvSpPr/>
          <p:nvPr/>
        </p:nvSpPr>
        <p:spPr>
          <a:xfrm>
            <a:off x="1747575" y="0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Pre-Deployment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4" name="Google Shape;624;p69"/>
          <p:cNvSpPr/>
          <p:nvPr/>
        </p:nvSpPr>
        <p:spPr>
          <a:xfrm>
            <a:off x="361725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" name="Google Shape;625;p69"/>
          <p:cNvSpPr/>
          <p:nvPr/>
        </p:nvSpPr>
        <p:spPr>
          <a:xfrm>
            <a:off x="5486925" y="-1"/>
            <a:ext cx="1787400" cy="271500"/>
          </a:xfrm>
          <a:prstGeom prst="chevron">
            <a:avLst>
              <a:gd fmla="val 50000" name="adj"/>
            </a:avLst>
          </a:prstGeom>
          <a:solidFill>
            <a:srgbClr val="9DE2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PoV Results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69"/>
          <p:cNvSpPr/>
          <p:nvPr/>
        </p:nvSpPr>
        <p:spPr>
          <a:xfrm>
            <a:off x="735660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4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Conclusion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7" name="Google Shape;627;p69"/>
          <p:cNvSpPr txBox="1"/>
          <p:nvPr>
            <p:ph idx="1" type="body"/>
          </p:nvPr>
        </p:nvSpPr>
        <p:spPr>
          <a:xfrm>
            <a:off x="457006" y="1183822"/>
            <a:ext cx="8232972" cy="2646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87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lang="en-US"/>
              <a:t>Go through the success criteria and results</a:t>
            </a:r>
            <a:endParaRPr/>
          </a:p>
          <a:p>
            <a:pPr indent="-171450" lvl="1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40"/>
              <a:buChar char="⎻"/>
            </a:pPr>
            <a:r>
              <a:rPr lang="en-US"/>
              <a:t>Articulate the story and vision. (NetskopeOne, Single Agent, Full SASE, AppX and optimization.)</a:t>
            </a:r>
            <a:endParaRPr/>
          </a:p>
          <a:p>
            <a:pPr indent="-171450" lvl="1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40"/>
              <a:buChar char="⎻"/>
            </a:pPr>
            <a:r>
              <a:rPr lang="en-US"/>
              <a:t>Show the overall value of the solution.</a:t>
            </a:r>
            <a:endParaRPr/>
          </a:p>
          <a:p>
            <a:pPr indent="-171450" lvl="1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40"/>
              <a:buChar char="⎻"/>
            </a:pPr>
            <a:r>
              <a:rPr lang="en-US"/>
              <a:t>Deliver a presentation with use cases and success criteria as a final report.</a:t>
            </a:r>
            <a:endParaRPr/>
          </a:p>
          <a:p>
            <a:pPr indent="-171450" lvl="1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40"/>
              <a:buChar char="⎻"/>
            </a:pPr>
            <a:r>
              <a:rPr lang="en-US"/>
              <a:t>Discuss what is working and what is not.</a:t>
            </a:r>
            <a:endParaRPr/>
          </a:p>
          <a:p>
            <a:pPr indent="-1587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lang="en-US"/>
              <a:t>Ask for feedback and enhancement requests.</a:t>
            </a:r>
            <a:endParaRPr/>
          </a:p>
          <a:p>
            <a:pPr indent="-571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t/>
            </a:r>
            <a:endParaRPr/>
          </a:p>
          <a:p>
            <a:pPr indent="-571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70"/>
          <p:cNvSpPr txBox="1"/>
          <p:nvPr>
            <p:ph type="title"/>
          </p:nvPr>
        </p:nvSpPr>
        <p:spPr>
          <a:xfrm>
            <a:off x="457006" y="345553"/>
            <a:ext cx="8232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633" name="Google Shape;633;p70"/>
          <p:cNvSpPr/>
          <p:nvPr/>
        </p:nvSpPr>
        <p:spPr>
          <a:xfrm>
            <a:off x="0" y="0"/>
            <a:ext cx="1665300" cy="271500"/>
          </a:xfrm>
          <a:prstGeom prst="homePlate">
            <a:avLst>
              <a:gd fmla="val 50000" name="adj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Agreement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Google Shape;634;p70"/>
          <p:cNvSpPr/>
          <p:nvPr/>
        </p:nvSpPr>
        <p:spPr>
          <a:xfrm>
            <a:off x="1747575" y="0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Pre-Deployment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5" name="Google Shape;635;p70"/>
          <p:cNvSpPr/>
          <p:nvPr/>
        </p:nvSpPr>
        <p:spPr>
          <a:xfrm>
            <a:off x="361725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Deployment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6" name="Google Shape;636;p70"/>
          <p:cNvSpPr/>
          <p:nvPr/>
        </p:nvSpPr>
        <p:spPr>
          <a:xfrm>
            <a:off x="5486925" y="-1"/>
            <a:ext cx="1787400" cy="271500"/>
          </a:xfrm>
          <a:prstGeom prst="chevron">
            <a:avLst>
              <a:gd fmla="val 50000" name="adj"/>
            </a:avLst>
          </a:prstGeom>
          <a:solidFill>
            <a:srgbClr val="9DE2E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8D8D8"/>
                </a:solidFill>
                <a:latin typeface="Roboto"/>
                <a:ea typeface="Roboto"/>
                <a:cs typeface="Roboto"/>
                <a:sym typeface="Roboto"/>
              </a:rPr>
              <a:t>PoV Results</a:t>
            </a:r>
            <a:endParaRPr b="0" i="0" sz="1200" u="none" cap="none" strike="noStrike">
              <a:solidFill>
                <a:srgbClr val="D8D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7" name="Google Shape;637;p70"/>
          <p:cNvSpPr/>
          <p:nvPr/>
        </p:nvSpPr>
        <p:spPr>
          <a:xfrm>
            <a:off x="7356600" y="-1"/>
            <a:ext cx="1787400" cy="271500"/>
          </a:xfrm>
          <a:prstGeom prst="chevron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PoV Conclusion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70"/>
          <p:cNvSpPr txBox="1"/>
          <p:nvPr>
            <p:ph idx="1" type="body"/>
          </p:nvPr>
        </p:nvSpPr>
        <p:spPr>
          <a:xfrm>
            <a:off x="457006" y="1530704"/>
            <a:ext cx="4759050" cy="2251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87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lang="en-US"/>
              <a:t>Collect feedback about the PoV and test result.</a:t>
            </a:r>
            <a:endParaRPr/>
          </a:p>
          <a:p>
            <a:pPr indent="-1587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lang="en-US"/>
              <a:t>If it is a technical win then discuss next step, pricing, quote, etc.</a:t>
            </a:r>
            <a:endParaRPr/>
          </a:p>
          <a:p>
            <a:pPr indent="-1587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</a:pPr>
            <a:r>
              <a:rPr lang="en-US"/>
              <a:t>If it is not a technical win, then share feedback and reasons with BWAN team.</a:t>
            </a:r>
            <a:endParaRPr/>
          </a:p>
          <a:p>
            <a:pPr indent="-571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t/>
            </a:r>
            <a:endParaRPr/>
          </a:p>
          <a:p>
            <a:pPr indent="-57150" lvl="0" marL="28575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639" name="Google Shape;639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7325" y="1175075"/>
            <a:ext cx="2962401" cy="296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71"/>
          <p:cNvSpPr txBox="1"/>
          <p:nvPr>
            <p:ph type="title"/>
          </p:nvPr>
        </p:nvSpPr>
        <p:spPr>
          <a:xfrm>
            <a:off x="457006" y="345553"/>
            <a:ext cx="8232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645" name="Google Shape;645;p71"/>
          <p:cNvSpPr txBox="1"/>
          <p:nvPr>
            <p:ph idx="1" type="body"/>
          </p:nvPr>
        </p:nvSpPr>
        <p:spPr>
          <a:xfrm>
            <a:off x="457006" y="1183822"/>
            <a:ext cx="8232972" cy="1883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1450" lvl="1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40"/>
              <a:buChar char="⎻"/>
            </a:pPr>
            <a:r>
              <a:rPr lang="en-US" u="sng">
                <a:solidFill>
                  <a:schemeClr val="hlink"/>
                </a:solidFill>
                <a:hlinkClick r:id="rId3"/>
              </a:rPr>
              <a:t>BWAN Documentation </a:t>
            </a:r>
            <a:r>
              <a:rPr lang="en-US"/>
              <a:t>(Sign up required, customer domain need to be whitelisted)</a:t>
            </a:r>
            <a:endParaRPr/>
          </a:p>
          <a:p>
            <a:pPr indent="-171450" lvl="1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40"/>
              <a:buChar char="⎻"/>
            </a:pPr>
            <a:r>
              <a:rPr lang="en-US" u="sng">
                <a:solidFill>
                  <a:schemeClr val="hlink"/>
                </a:solidFill>
                <a:hlinkClick r:id="rId4"/>
              </a:rPr>
              <a:t>ZTNA Next L3E PoV Test Plan</a:t>
            </a:r>
            <a:endParaRPr/>
          </a:p>
          <a:p>
            <a:pPr indent="-171450" lvl="1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40"/>
              <a:buChar char="⎻"/>
            </a:pPr>
            <a:r>
              <a:rPr lang="en-US" u="sng">
                <a:solidFill>
                  <a:schemeClr val="hlink"/>
                </a:solidFill>
                <a:hlinkClick r:id="rId5"/>
              </a:rPr>
              <a:t>BWAN VT Page</a:t>
            </a:r>
            <a:r>
              <a:rPr lang="en-US"/>
              <a:t> (Internal only)</a:t>
            </a:r>
            <a:endParaRPr/>
          </a:p>
          <a:p>
            <a:pPr indent="-171450" lvl="1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40"/>
              <a:buChar char="⎻"/>
            </a:pPr>
            <a:r>
              <a:rPr lang="en-US" u="sng">
                <a:solidFill>
                  <a:schemeClr val="hlink"/>
                </a:solidFill>
                <a:hlinkClick r:id="rId6"/>
              </a:rPr>
              <a:t>BWAN Showpad page</a:t>
            </a:r>
            <a:r>
              <a:rPr lang="en-US"/>
              <a:t> (Internal only)</a:t>
            </a:r>
            <a:endParaRPr/>
          </a:p>
          <a:p>
            <a:pPr indent="-171450" lvl="1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40"/>
              <a:buChar char="⎻"/>
            </a:pPr>
            <a:r>
              <a:rPr lang="en-US"/>
              <a:t>BWAN Slack VT channel #vt-borderlesswan-public (Internal only)</a:t>
            </a:r>
            <a:endParaRPr/>
          </a:p>
          <a:p>
            <a:pPr indent="-171450" lvl="1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40"/>
              <a:buChar char="⎻"/>
            </a:pPr>
            <a:r>
              <a:rPr lang="en-US"/>
              <a:t>BWAN Slack Support channel #vt-borderlesswan-support (Internal only)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etskope 2022 - DRK BLUE">
  <a:themeElements>
    <a:clrScheme name="Custom 9">
      <a:dk1>
        <a:srgbClr val="535659"/>
      </a:dk1>
      <a:lt1>
        <a:srgbClr val="FFFFFF"/>
      </a:lt1>
      <a:dk2>
        <a:srgbClr val="081A59"/>
      </a:dk2>
      <a:lt2>
        <a:srgbClr val="9DE2ED"/>
      </a:lt2>
      <a:accent1>
        <a:srgbClr val="00A9CE"/>
      </a:accent1>
      <a:accent2>
        <a:srgbClr val="008C95"/>
      </a:accent2>
      <a:accent3>
        <a:srgbClr val="AFF198"/>
      </a:accent3>
      <a:accent4>
        <a:srgbClr val="FF8200"/>
      </a:accent4>
      <a:accent5>
        <a:srgbClr val="68C5C9"/>
      </a:accent5>
      <a:accent6>
        <a:srgbClr val="D9FAFF"/>
      </a:accent6>
      <a:hlink>
        <a:srgbClr val="02B6D5"/>
      </a:hlink>
      <a:folHlink>
        <a:srgbClr val="FF82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etskope 2022 - LT BLUE">
  <a:themeElements>
    <a:clrScheme name="Custom 2">
      <a:dk1>
        <a:srgbClr val="515559"/>
      </a:dk1>
      <a:lt1>
        <a:srgbClr val="FFFFFF"/>
      </a:lt1>
      <a:dk2>
        <a:srgbClr val="00246B"/>
      </a:dk2>
      <a:lt2>
        <a:srgbClr val="9DE2ED"/>
      </a:lt2>
      <a:accent1>
        <a:srgbClr val="02B6D5"/>
      </a:accent1>
      <a:accent2>
        <a:srgbClr val="009CA4"/>
      </a:accent2>
      <a:accent3>
        <a:srgbClr val="B5F0AA"/>
      </a:accent3>
      <a:accent4>
        <a:srgbClr val="FE981F"/>
      </a:accent4>
      <a:accent5>
        <a:srgbClr val="68C5C9"/>
      </a:accent5>
      <a:accent6>
        <a:srgbClr val="DBF9FE"/>
      </a:accent6>
      <a:hlink>
        <a:srgbClr val="02B6D5"/>
      </a:hlink>
      <a:folHlink>
        <a:srgbClr val="FF82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Netskope 2022 - LIGHT">
  <a:themeElements>
    <a:clrScheme name="Custom 3">
      <a:dk1>
        <a:srgbClr val="515559"/>
      </a:dk1>
      <a:lt1>
        <a:srgbClr val="FFFFFF"/>
      </a:lt1>
      <a:dk2>
        <a:srgbClr val="00246B"/>
      </a:dk2>
      <a:lt2>
        <a:srgbClr val="9DE2ED"/>
      </a:lt2>
      <a:accent1>
        <a:srgbClr val="02B6D5"/>
      </a:accent1>
      <a:accent2>
        <a:srgbClr val="009CA4"/>
      </a:accent2>
      <a:accent3>
        <a:srgbClr val="B5F0AA"/>
      </a:accent3>
      <a:accent4>
        <a:srgbClr val="FE981F"/>
      </a:accent4>
      <a:accent5>
        <a:srgbClr val="68C5C9"/>
      </a:accent5>
      <a:accent6>
        <a:srgbClr val="DBF9FE"/>
      </a:accent6>
      <a:hlink>
        <a:srgbClr val="02B6D5"/>
      </a:hlink>
      <a:folHlink>
        <a:srgbClr val="FF82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2016-06-01T19:47:12Z</dcterms:created>
</cp:coreProperties>
</file>